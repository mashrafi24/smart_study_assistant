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b585ba306f4b9d" /><Relationship Type="http://schemas.openxmlformats.org/officeDocument/2006/relationships/extended-properties" Target="/docProps/app.xml" Id="R736f9d65199942a0" /><Relationship Type="http://schemas.openxmlformats.org/officeDocument/2006/relationships/officeDocument" Target="/ppt/presentation.xml" Id="R55910339ede840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b25f6ce9194ec4"/>
  </p:sldMasterIdLst>
  <p:notesMasterIdLst>
    <p:notesMasterId xmlns:r="http://schemas.openxmlformats.org/officeDocument/2006/relationships" r:id="Rc87dfc5744db4b89"/>
  </p:notesMasterIdLst>
  <p:sldIdLst>
    <p:sldId xmlns:r="http://schemas.openxmlformats.org/officeDocument/2006/relationships" id="256" r:id="R11b192aa350643fb"/>
  </p:sldIdLst>
  <p:sldSz cx="21384006" cy="302760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7974e418ad4412" /><Relationship Type="http://schemas.openxmlformats.org/officeDocument/2006/relationships/slideMaster" Target="/ppt/slideMasters/slideMaster1.xml" Id="Rc7b25f6ce9194ec4" /><Relationship Type="http://schemas.openxmlformats.org/officeDocument/2006/relationships/notesMaster" Target="/ppt/notesMasters/notesMaster1.xml" Id="Rc87dfc5744db4b89" /><Relationship Type="http://schemas.openxmlformats.org/officeDocument/2006/relationships/presProps" Target="/ppt/presProps.xml" Id="R844b940d1a894cf5" /><Relationship Type="http://schemas.openxmlformats.org/officeDocument/2006/relationships/tableStyles" Target="/ppt/tableStyles.xml" Id="R5f1a2836d13a4a01" /><Relationship Type="http://schemas.openxmlformats.org/officeDocument/2006/relationships/slide" Target="/ppt/slides/slide1.xml" Id="R11b192aa350643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c289b8fdc748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ffa8306adb4f75" /><Relationship Type="http://schemas.openxmlformats.org/officeDocument/2006/relationships/notesMaster" Target="/ppt/notesMasters/notesMaster1.xml" Id="R0f162822ef8d46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https://github.com/IMRAN-8/smartstudy-assistant, commit 09f93df. Screenshot supplied by the user. Text, shapes and diagram labels are native editable slide objects. Screenshot and QR codes are embedded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bc3d7962f45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d71e9f30943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3006c31ff44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1aca35ca64e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6d084554e44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e81ed99574f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4DCA64-3881-4E98-95A3-E99128AB6F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8401" y="11437614"/>
            <a:ext cx="17107205" cy="4373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CB3C69-FC9C-4243-A73A-356E6B1103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207601" y="16651821"/>
            <a:ext cx="14968804" cy="3364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FBE8D8-0695-4099-8222-023A227CE0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8401" y="12615016"/>
            <a:ext cx="17107205" cy="5046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F90F19-5FBC-45B4-A8B7-C34CAEE9F2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3"/>
            <a:ext cx="18978305" cy="3700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C2717E-BF02-4B1D-B6AF-62FC1E522F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11"/>
            <a:ext cx="18978305" cy="18838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0D5717-199B-4135-B312-DC7007B61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3"/>
            <a:ext cx="18978305" cy="3700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E81AD8-920F-4BC0-BFF2-96297F6A50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11"/>
            <a:ext cx="8820902" cy="18838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C81658-B241-4471-AA4F-1E0C4EAF1C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360253" y="8410011"/>
            <a:ext cx="8820902" cy="18838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E1A446-E5CD-4A2F-8725-21830D447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3"/>
            <a:ext cx="18978305" cy="3700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041D0A-E6EF-4836-AC82-078F38EE6D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11"/>
            <a:ext cx="8820902" cy="18838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1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79a74014574b63" /><Relationship Type="http://schemas.openxmlformats.org/officeDocument/2006/relationships/slideLayout" Target="/ppt/slideLayouts/slideLayout1.xml" Id="Rb991457cde37457b" /><Relationship Type="http://schemas.openxmlformats.org/officeDocument/2006/relationships/slideLayout" Target="/ppt/slideLayouts/slideLayout2.xml" Id="R752a3ee8a6f24c06" /><Relationship Type="http://schemas.openxmlformats.org/officeDocument/2006/relationships/slideLayout" Target="/ppt/slideLayouts/slideLayout3.xml" Id="R9cf75b8f63434659" /><Relationship Type="http://schemas.openxmlformats.org/officeDocument/2006/relationships/slideLayout" Target="/ppt/slideLayouts/slideLayout4.xml" Id="R8c10abb0fa6b44e1" /><Relationship Type="http://schemas.openxmlformats.org/officeDocument/2006/relationships/slideLayout" Target="/ppt/slideLayouts/slideLayout5.xml" Id="Rd4f8265d3ba14f4b" /><Relationship Type="http://schemas.openxmlformats.org/officeDocument/2006/relationships/slideLayout" Target="/ppt/slideLayouts/slideLayout6.xml" Id="Ra95fa37112f14f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91457cde37457b"/>
    <p:sldLayoutId xmlns:r="http://schemas.openxmlformats.org/officeDocument/2006/relationships" id="2147483650" r:id="R752a3ee8a6f24c06"/>
    <p:sldLayoutId xmlns:r="http://schemas.openxmlformats.org/officeDocument/2006/relationships" id="2147483651" r:id="R9cf75b8f63434659"/>
    <p:sldLayoutId xmlns:r="http://schemas.openxmlformats.org/officeDocument/2006/relationships" id="2147483652" r:id="R8c10abb0fa6b44e1"/>
    <p:sldLayoutId xmlns:r="http://schemas.openxmlformats.org/officeDocument/2006/relationships" id="2147483653" r:id="Rd4f8265d3ba14f4b"/>
    <p:sldLayoutId xmlns:r="http://schemas.openxmlformats.org/officeDocument/2006/relationships" id="2147483654" r:id="Ra95fa37112f14f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fc6a031a94c75" /><Relationship Type="http://schemas.openxmlformats.org/officeDocument/2006/relationships/image" Target="/ppt/media/image.png" Id="Rfc5b1ad4a32e413f" /><Relationship Type="http://schemas.openxmlformats.org/officeDocument/2006/relationships/image" Target="/ppt/media/image2.png" Id="Rf01259db367b4548" /><Relationship Type="http://schemas.openxmlformats.org/officeDocument/2006/relationships/image" Target="/ppt/media/image3.png" Id="R7256c6cbabcd4e2d" /><Relationship Type="http://schemas.openxmlformats.org/officeDocument/2006/relationships/notesSlide" Target="/ppt/notesSlides/notesSlide1.xml" Id="R54a0e55361034b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Panel 1">
            <a:extLst xmlns:a="http://schemas.openxmlformats.org/drawingml/2006/main">
              <a:ext uri="{FF2B5EF4-FFF2-40B4-BE49-F238E27FC236}">
                <a16:creationId xmlns:a16="http://schemas.microsoft.com/office/drawing/2014/main" id="{4DDA22B6-44B7-4191-8631-F45F0F67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384006" cy="30276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 w="0">
            <a:noFill/>
          </a:ln>
        </p:spPr>
      </p:sp>
      <p:sp>
        <p:nvSpPr>
          <p:cNvPr id="2" name="Panel 2">
            <a:extLst xmlns:a="http://schemas.openxmlformats.org/drawingml/2006/main">
              <a:ext uri="{FF2B5EF4-FFF2-40B4-BE49-F238E27FC236}">
                <a16:creationId xmlns:a16="http://schemas.microsoft.com/office/drawing/2014/main" id="{0D4F22BE-4947-4699-9E54-1F86F960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384006" cy="43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E"/>
          </a:solidFill>
          <a:ln xmlns:a="http://schemas.openxmlformats.org/drawingml/2006/main" w="0">
            <a:noFill/>
          </a:ln>
        </p:spPr>
      </p:sp>
      <p:sp>
        <p:nvSpPr>
          <p:cNvPr id="3" name="Panel 3">
            <a:extLst xmlns:a="http://schemas.openxmlformats.org/drawingml/2006/main">
              <a:ext uri="{FF2B5EF4-FFF2-40B4-BE49-F238E27FC236}">
                <a16:creationId xmlns:a16="http://schemas.microsoft.com/office/drawing/2014/main" id="{7E45D61D-398B-4F52-A468-054B4937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43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87"/>
          </a:solidFill>
          <a:ln xmlns:a="http://schemas.openxmlformats.org/drawingml/2006/main" w="0">
            <a:noFill/>
          </a:ln>
        </p:spPr>
      </p:sp>
      <p:sp>
        <p:nvSpPr>
          <p:cNvPr id="4" name="Diagram line 4">
            <a:extLst xmlns:a="http://schemas.openxmlformats.org/drawingml/2006/main">
              <a:ext uri="{FF2B5EF4-FFF2-40B4-BE49-F238E27FC236}">
                <a16:creationId xmlns:a16="http://schemas.microsoft.com/office/drawing/2014/main" id="{68D7C111-56C2-48A1-9FF3-593C8A64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24000" y="0"/>
            <a:ext cx="95" cy="431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5" name="Diagram line 5">
            <a:extLst xmlns:a="http://schemas.openxmlformats.org/drawingml/2006/main">
              <a:ext uri="{FF2B5EF4-FFF2-40B4-BE49-F238E27FC236}">
                <a16:creationId xmlns:a16="http://schemas.microsoft.com/office/drawing/2014/main" id="{FD282F11-7815-4CA5-AF4D-0955A08D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113000" y="0"/>
            <a:ext cx="95" cy="431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6" name="Diagram line 6">
            <a:extLst xmlns:a="http://schemas.openxmlformats.org/drawingml/2006/main">
              <a:ext uri="{FF2B5EF4-FFF2-40B4-BE49-F238E27FC236}">
                <a16:creationId xmlns:a16="http://schemas.microsoft.com/office/drawing/2014/main" id="{2F64E815-A411-47B4-A585-41164698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002000" y="0"/>
            <a:ext cx="95" cy="431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7" name="Diagram line 7">
            <a:extLst xmlns:a="http://schemas.openxmlformats.org/drawingml/2006/main">
              <a:ext uri="{FF2B5EF4-FFF2-40B4-BE49-F238E27FC236}">
                <a16:creationId xmlns:a16="http://schemas.microsoft.com/office/drawing/2014/main" id="{805AF4BA-5649-496E-92B3-38AAC3AD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891000" y="0"/>
            <a:ext cx="95" cy="431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8" name="Diagram line 8">
            <a:extLst xmlns:a="http://schemas.openxmlformats.org/drawingml/2006/main">
              <a:ext uri="{FF2B5EF4-FFF2-40B4-BE49-F238E27FC236}">
                <a16:creationId xmlns:a16="http://schemas.microsoft.com/office/drawing/2014/main" id="{5EF2E5A7-F898-49D2-A173-56C0B434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780000" y="0"/>
            <a:ext cx="95" cy="431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9" name="Diagram line 9">
            <a:extLst xmlns:a="http://schemas.openxmlformats.org/drawingml/2006/main">
              <a:ext uri="{FF2B5EF4-FFF2-40B4-BE49-F238E27FC236}">
                <a16:creationId xmlns:a16="http://schemas.microsoft.com/office/drawing/2014/main" id="{64EB2F23-6F0D-4359-A9F7-FEDD6BE5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669000" y="0"/>
            <a:ext cx="95" cy="431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10" name="Diagram line 10">
            <a:extLst xmlns:a="http://schemas.openxmlformats.org/drawingml/2006/main">
              <a:ext uri="{FF2B5EF4-FFF2-40B4-BE49-F238E27FC236}">
                <a16:creationId xmlns:a16="http://schemas.microsoft.com/office/drawing/2014/main" id="{ABE14CC0-8C6C-46AA-A5E7-EA9CD51A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558000" y="0"/>
            <a:ext cx="95" cy="431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11" name="Diagram line 11">
            <a:extLst xmlns:a="http://schemas.openxmlformats.org/drawingml/2006/main">
              <a:ext uri="{FF2B5EF4-FFF2-40B4-BE49-F238E27FC236}">
                <a16:creationId xmlns:a16="http://schemas.microsoft.com/office/drawing/2014/main" id="{917FAC7A-94B2-43FC-87F7-36BEC1A5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47000" y="0"/>
            <a:ext cx="95" cy="431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12" name="Diagram line 12">
            <a:extLst xmlns:a="http://schemas.openxmlformats.org/drawingml/2006/main">
              <a:ext uri="{FF2B5EF4-FFF2-40B4-BE49-F238E27FC236}">
                <a16:creationId xmlns:a16="http://schemas.microsoft.com/office/drawing/2014/main" id="{9D3900B3-FDF6-4E19-91D7-A6EA4749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336000" y="0"/>
            <a:ext cx="95" cy="431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13" name="Diagram line 13">
            <a:extLst xmlns:a="http://schemas.openxmlformats.org/drawingml/2006/main">
              <a:ext uri="{FF2B5EF4-FFF2-40B4-BE49-F238E27FC236}">
                <a16:creationId xmlns:a16="http://schemas.microsoft.com/office/drawing/2014/main" id="{019FBFB1-E3D8-4FAD-9281-E4FBB5F2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43000" y="381000"/>
            <a:ext cx="754100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14" name="Diagram line 14">
            <a:extLst xmlns:a="http://schemas.openxmlformats.org/drawingml/2006/main">
              <a:ext uri="{FF2B5EF4-FFF2-40B4-BE49-F238E27FC236}">
                <a16:creationId xmlns:a16="http://schemas.microsoft.com/office/drawing/2014/main" id="{5696D51B-7066-40F7-9036-7ED18616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43000" y="1143000"/>
            <a:ext cx="754100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15" name="Diagram line 15">
            <a:extLst xmlns:a="http://schemas.openxmlformats.org/drawingml/2006/main">
              <a:ext uri="{FF2B5EF4-FFF2-40B4-BE49-F238E27FC236}">
                <a16:creationId xmlns:a16="http://schemas.microsoft.com/office/drawing/2014/main" id="{37DC5690-2225-4E60-9386-E45800ED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43000" y="1905000"/>
            <a:ext cx="754100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16" name="Diagram line 16">
            <a:extLst xmlns:a="http://schemas.openxmlformats.org/drawingml/2006/main">
              <a:ext uri="{FF2B5EF4-FFF2-40B4-BE49-F238E27FC236}">
                <a16:creationId xmlns:a16="http://schemas.microsoft.com/office/drawing/2014/main" id="{A60828E1-AAE1-4273-900D-71DE7F52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43000" y="2667000"/>
            <a:ext cx="754100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17" name="Diagram line 17">
            <a:extLst xmlns:a="http://schemas.openxmlformats.org/drawingml/2006/main">
              <a:ext uri="{FF2B5EF4-FFF2-40B4-BE49-F238E27FC236}">
                <a16:creationId xmlns:a16="http://schemas.microsoft.com/office/drawing/2014/main" id="{11F882A5-7F7F-47D0-AF26-16F85AF9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43000" y="3429000"/>
            <a:ext cx="754100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18" name="Diagram line 18">
            <a:extLst xmlns:a="http://schemas.openxmlformats.org/drawingml/2006/main">
              <a:ext uri="{FF2B5EF4-FFF2-40B4-BE49-F238E27FC236}">
                <a16:creationId xmlns:a16="http://schemas.microsoft.com/office/drawing/2014/main" id="{E2ADA98C-84DE-4C02-AB18-CE61457D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43000" y="4191000"/>
            <a:ext cx="754100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0263E"/>
            </a:solidFill>
            <a:prstDash val="solid"/>
          </a:ln>
        </p:spPr>
      </p:sp>
      <p:sp>
        <p:nvSpPr>
          <p:cNvPr id="19" name="AI-POWERED ADAPTIVE LEARNING &amp; SELF-ASSESSMENT">
            <a:extLst xmlns:a="http://schemas.openxmlformats.org/drawingml/2006/main">
              <a:ext uri="{FF2B5EF4-FFF2-40B4-BE49-F238E27FC236}">
                <a16:creationId xmlns:a16="http://schemas.microsoft.com/office/drawing/2014/main" id="{B4B84222-0C1B-4840-BB5C-CACC1EE1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07238"/>
            <a:ext cx="9266076" cy="423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55D2C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300" b="1">
                <a:solidFill>
                  <a:srgbClr val="55D2C7"/>
                </a:solidFill>
                <a:latin typeface="DejaVu Sans"/>
                <a:ea typeface="DejaVu Sans"/>
                <a:cs typeface="DejaVu Sans"/>
              </a:defRPr>
            </a:pPr>
            <a:r>
              <a:rPr sz="2300" b="1">
                <a:solidFill>
                  <a:srgbClr val="55D2C7"/>
                </a:solidFill>
                <a:latin typeface="DejaVu Sans"/>
                <a:ea typeface="DejaVu Sans"/>
                <a:cs typeface="DejaVu Sans"/>
              </a:rPr>
              <a:t>AI-POWERED ADAPTIVE LEARNING &amp; SELF-ASSESSMENT</a:t>
            </a:r>
          </a:p>
        </p:txBody>
      </p:sp>
      <p:sp>
        <p:nvSpPr>
          <p:cNvPr id="20" name="SmartStudy">
            <a:extLst xmlns:a="http://schemas.openxmlformats.org/drawingml/2006/main">
              <a:ext uri="{FF2B5EF4-FFF2-40B4-BE49-F238E27FC236}">
                <a16:creationId xmlns:a16="http://schemas.microsoft.com/office/drawing/2014/main" id="{E259BDAD-7017-455F-9ED4-AE6FC8D5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4824"/>
            <a:ext cx="8894415" cy="191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0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SmartStudy</a:t>
            </a:r>
          </a:p>
        </p:txBody>
      </p:sp>
      <p:sp>
        <p:nvSpPr>
          <p:cNvPr id="21" name="Assistant">
            <a:extLst xmlns:a="http://schemas.openxmlformats.org/drawingml/2006/main">
              <a:ext uri="{FF2B5EF4-FFF2-40B4-BE49-F238E27FC236}">
                <a16:creationId xmlns:a16="http://schemas.microsoft.com/office/drawing/2014/main" id="{BA26C174-4783-4541-BD3E-85E98CDA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2419350"/>
            <a:ext cx="5059474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Assistant</a:t>
            </a:r>
          </a:p>
        </p:txBody>
      </p:sp>
      <p:sp>
        <p:nvSpPr>
          <p:cNvPr id="22" name="Understand the topic.Find the gap.Plan the next review.">
            <a:extLst xmlns:a="http://schemas.openxmlformats.org/drawingml/2006/main">
              <a:ext uri="{FF2B5EF4-FFF2-40B4-BE49-F238E27FC236}">
                <a16:creationId xmlns:a16="http://schemas.microsoft.com/office/drawing/2014/main" id="{80422E66-6CCD-40D5-9119-19DB7D66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560322"/>
            <a:ext cx="6350000" cy="204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00" b="1">
                <a:solidFill>
                  <a:srgbClr val="E0DE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4865"/>
              </a:lnSpc>
              <a:buNone/>
              <a:defRPr sz="3700" b="1">
                <a:solidFill>
                  <a:srgbClr val="E0DEFF"/>
                </a:solidFill>
                <a:latin typeface="DejaVu Sans"/>
                <a:ea typeface="DejaVu Sans"/>
                <a:cs typeface="DejaVu Sans"/>
              </a:defRPr>
            </a:pPr>
            <a:r>
              <a:rPr sz="3700" b="1">
                <a:solidFill>
                  <a:srgbClr val="E0DEFF"/>
                </a:solidFill>
                <a:latin typeface="DejaVu Sans"/>
                <a:ea typeface="DejaVu Sans"/>
                <a:cs typeface="DejaVu Sans"/>
              </a:rPr>
              <a:t>Understand the topic.</a:t>
            </a:r>
          </a:p>
          <a:p xmlns:a="http://schemas.openxmlformats.org/drawingml/2006/main">
            <a:pPr>
              <a:lnSpc>
                <a:spcPct val="114865"/>
              </a:lnSpc>
              <a:buNone/>
              <a:defRPr sz="3700" b="1">
                <a:solidFill>
                  <a:srgbClr val="E0DEFF"/>
                </a:solidFill>
                <a:latin typeface="DejaVu Sans"/>
                <a:ea typeface="DejaVu Sans"/>
                <a:cs typeface="DejaVu Sans"/>
              </a:defRPr>
            </a:pPr>
            <a:r>
              <a:rPr sz="3700" b="1">
                <a:solidFill>
                  <a:srgbClr val="E0DEFF"/>
                </a:solidFill>
                <a:latin typeface="DejaVu Sans"/>
                <a:ea typeface="DejaVu Sans"/>
                <a:cs typeface="DejaVu Sans"/>
              </a:rPr>
              <a:t>Find the gap.</a:t>
            </a:r>
          </a:p>
          <a:p xmlns:a="http://schemas.openxmlformats.org/drawingml/2006/main">
            <a:pPr>
              <a:lnSpc>
                <a:spcPct val="114865"/>
              </a:lnSpc>
              <a:buNone/>
              <a:defRPr sz="3700" b="1">
                <a:solidFill>
                  <a:srgbClr val="E0DEFF"/>
                </a:solidFill>
                <a:latin typeface="DejaVu Sans"/>
                <a:ea typeface="DejaVu Sans"/>
                <a:cs typeface="DejaVu Sans"/>
              </a:defRPr>
            </a:pPr>
            <a:r>
              <a:rPr sz="3700" b="1">
                <a:solidFill>
                  <a:srgbClr val="E0DEFF"/>
                </a:solidFill>
                <a:latin typeface="DejaVu Sans"/>
                <a:ea typeface="DejaVu Sans"/>
                <a:cs typeface="DejaVu Sans"/>
              </a:rPr>
              <a:t>Plan the next review.</a:t>
            </a:r>
          </a:p>
        </p:txBody>
      </p:sp>
      <p:sp>
        <p:nvSpPr>
          <p:cNvPr id="23" name="EXPLAIN  /  EXAMINE  /  DIAGNOSE  /  RE-TEACH  /  RECALL">
            <a:extLst xmlns:a="http://schemas.openxmlformats.org/drawingml/2006/main">
              <a:ext uri="{FF2B5EF4-FFF2-40B4-BE49-F238E27FC236}">
                <a16:creationId xmlns:a16="http://schemas.microsoft.com/office/drawing/2014/main" id="{CB6A0F18-0873-4245-AB03-6EB83CB2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725926"/>
            <a:ext cx="7901719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7C1D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100" b="0">
                <a:solidFill>
                  <a:srgbClr val="B7C1D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7C1D6"/>
                </a:solidFill>
                <a:latin typeface="DejaVu Sans"/>
                <a:ea typeface="DejaVu Sans"/>
                <a:cs typeface="DejaVu Sans"/>
              </a:rPr>
              <a:t>EXPLAIN  /  EXAMINE  /  DIAGNOSE  /  RE-TEACH  /  RECALL</a:t>
            </a:r>
          </a:p>
        </p:txBody>
      </p:sp>
      <p:sp>
        <p:nvSpPr>
          <p:cNvPr id="24" name="Panel 24">
            <a:extLst xmlns:a="http://schemas.openxmlformats.org/drawingml/2006/main">
              <a:ext uri="{FF2B5EF4-FFF2-40B4-BE49-F238E27FC236}">
                <a16:creationId xmlns:a16="http://schemas.microsoft.com/office/drawing/2014/main" id="{1F6AAFD3-C43A-4244-BDC0-A6A6739C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8768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56D9"/>
          </a:solidFill>
          <a:ln xmlns:a="http://schemas.openxmlformats.org/drawingml/2006/main" w="0">
            <a:noFill/>
          </a:ln>
        </p:spPr>
      </p:sp>
      <p:sp>
        <p:nvSpPr>
          <p:cNvPr id="25" name="01">
            <a:extLst xmlns:a="http://schemas.openxmlformats.org/drawingml/2006/main">
              <a:ext uri="{FF2B5EF4-FFF2-40B4-BE49-F238E27FC236}">
                <a16:creationId xmlns:a16="http://schemas.microsoft.com/office/drawing/2014/main" id="{B0039937-E6BC-401F-93BA-E6ECC653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" y="4926838"/>
            <a:ext cx="469987" cy="423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26" name="The learning challenge">
            <a:extLst xmlns:a="http://schemas.openxmlformats.org/drawingml/2006/main">
              <a:ext uri="{FF2B5EF4-FFF2-40B4-BE49-F238E27FC236}">
                <a16:creationId xmlns:a16="http://schemas.microsoft.com/office/drawing/2014/main" id="{0980FE71-1471-4247-8C70-40631DCC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00" y="4853686"/>
            <a:ext cx="5137962" cy="570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The learning challenge</a:t>
            </a:r>
          </a:p>
        </p:txBody>
      </p:sp>
      <p:sp>
        <p:nvSpPr>
          <p:cNvPr id="27" name="Reading a lesson does not show which concepts a learner can explain or">
            <a:extLst xmlns:a="http://schemas.openxmlformats.org/drawingml/2006/main">
              <a:ext uri="{FF2B5EF4-FFF2-40B4-BE49-F238E27FC236}">
                <a16:creationId xmlns:a16="http://schemas.microsoft.com/office/drawing/2014/main" id="{85E69D53-3071-4ACD-85BF-39B16A8E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611368"/>
            <a:ext cx="7937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00" b="0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9048"/>
              </a:lnSpc>
              <a:buNone/>
              <a:defRPr sz="2800" b="0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800" b="0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Reading a lesson does not show which concepts a learner can explain or apply. A useful study tool should connect understanding, feedback and revision.</a:t>
            </a:r>
          </a:p>
        </p:txBody>
      </p:sp>
      <p:sp>
        <p:nvSpPr>
          <p:cNvPr id="28" name="Panel 28">
            <a:extLst xmlns:a="http://schemas.openxmlformats.org/drawingml/2006/main">
              <a:ext uri="{FF2B5EF4-FFF2-40B4-BE49-F238E27FC236}">
                <a16:creationId xmlns:a16="http://schemas.microsoft.com/office/drawing/2014/main" id="{00F11C0F-004B-4CF7-9C76-2FE99577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823200"/>
            <a:ext cx="7937500" cy="1473200"/>
          </a:xfrm>
          <a:prstGeom xmlns:a="http://schemas.openxmlformats.org/drawingml/2006/main" prst="roundRect">
            <a:avLst>
              <a:gd name="adj" fmla="val 14655"/>
            </a:avLst>
          </a:prstGeom>
          <a:solidFill xmlns:a="http://schemas.openxmlformats.org/drawingml/2006/main">
            <a:srgbClr val="E6E1FA"/>
          </a:solidFill>
          <a:ln xmlns:a="http://schemas.openxmlformats.org/drawingml/2006/main" w="0">
            <a:noFill/>
          </a:ln>
        </p:spPr>
      </p:sp>
      <p:sp>
        <p:nvSpPr>
          <p:cNvPr id="29" name="Project objectiveTurn a topic or PDF into a guided cycle of learning, ">
            <a:extLst xmlns:a="http://schemas.openxmlformats.org/drawingml/2006/main">
              <a:ext uri="{FF2B5EF4-FFF2-40B4-BE49-F238E27FC236}">
                <a16:creationId xmlns:a16="http://schemas.microsoft.com/office/drawing/2014/main" id="{09E5DA5E-C08E-4EB7-8AE6-0D313AD5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7972044"/>
            <a:ext cx="7353300" cy="13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6B56D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4583"/>
              </a:lnSpc>
              <a:buNone/>
              <a:defRPr sz="2400" b="0">
                <a:solidFill>
                  <a:srgbClr val="6B56D9"/>
                </a:solidFill>
                <a:latin typeface="DejaVu Sans"/>
                <a:ea typeface="DejaVu Sans"/>
                <a:cs typeface="DejaVu Sans"/>
              </a:defRPr>
            </a:pPr>
            <a:r>
              <a:rPr b="0"/>
              <a:t/>
            </a:r>
            <a:r>
              <a:rPr sz="2400" b="1">
                <a:solidFill>
                  <a:srgbClr val="6B56D9"/>
                </a:solidFill>
                <a:latin typeface="DejaVu Sans"/>
                <a:ea typeface="DejaVu Sans"/>
                <a:cs typeface="DejaVu Sans"/>
              </a:rPr>
              <a:t>Project objective</a:t>
            </a:r>
            <a:r>
              <a:rPr b="0"/>
              <a:t/>
            </a:r>
          </a:p>
          <a:p xmlns:a="http://schemas.openxmlformats.org/drawingml/2006/main">
            <a:pPr>
              <a:lnSpc>
                <a:spcPct val="114583"/>
              </a:lnSpc>
              <a:buNone/>
              <a:defRPr sz="2400" b="0">
                <a:solidFill>
                  <a:srgbClr val="6B56D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6B56D9"/>
                </a:solidFill>
                <a:latin typeface="DejaVu Sans"/>
                <a:ea typeface="DejaVu Sans"/>
                <a:cs typeface="DejaVu Sans"/>
              </a:rPr>
              <a:t>Turn a topic or PDF into a guided cycle of learning, assessment and targeted review.</a:t>
            </a:r>
          </a:p>
        </p:txBody>
      </p:sp>
      <p:sp>
        <p:nvSpPr>
          <p:cNvPr id="30" name="THE APPLICATION">
            <a:extLst xmlns:a="http://schemas.openxmlformats.org/drawingml/2006/main">
              <a:ext uri="{FF2B5EF4-FFF2-40B4-BE49-F238E27FC236}">
                <a16:creationId xmlns:a16="http://schemas.microsoft.com/office/drawing/2014/main" id="{F266B4C1-5D0F-491C-9AAF-C415C485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84420"/>
            <a:ext cx="2615778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008F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000" b="1">
                <a:solidFill>
                  <a:srgbClr val="008F87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008F87"/>
                </a:solidFill>
                <a:latin typeface="DejaVu Sans"/>
                <a:ea typeface="DejaVu Sans"/>
                <a:cs typeface="DejaVu Sans"/>
              </a:rPr>
              <a:t>THE APPLICATION</a:t>
            </a:r>
          </a:p>
        </p:txBody>
      </p:sp>
      <p:sp>
        <p:nvSpPr>
          <p:cNvPr id="31" name="Actual interface: topic entry and PDF upload">
            <a:extLst xmlns:a="http://schemas.openxmlformats.org/drawingml/2006/main">
              <a:ext uri="{FF2B5EF4-FFF2-40B4-BE49-F238E27FC236}">
                <a16:creationId xmlns:a16="http://schemas.microsoft.com/office/drawing/2014/main" id="{D235E222-34EE-4F2D-B99A-0CBF939A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9939020"/>
            <a:ext cx="570235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Actual interface: topic entry and PDF upload</a:t>
            </a:r>
          </a:p>
        </p:txBody>
      </p:sp>
      <p:sp>
        <p:nvSpPr>
          <p:cNvPr id="32" name="Panel 32">
            <a:extLst xmlns:a="http://schemas.openxmlformats.org/drawingml/2006/main">
              <a:ext uri="{FF2B5EF4-FFF2-40B4-BE49-F238E27FC236}">
                <a16:creationId xmlns:a16="http://schemas.microsoft.com/office/drawing/2014/main" id="{19E489CE-98BC-4844-922E-E2C98F53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756900"/>
            <a:ext cx="19761200" cy="4064000"/>
          </a:xfrm>
          <a:prstGeom xmlns:a="http://schemas.openxmlformats.org/drawingml/2006/main" prst="roundRect">
            <a:avLst>
              <a:gd name="adj" fmla="val 6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Panel 33">
            <a:extLst xmlns:a="http://schemas.openxmlformats.org/drawingml/2006/main">
              <a:ext uri="{FF2B5EF4-FFF2-40B4-BE49-F238E27FC236}">
                <a16:creationId xmlns:a16="http://schemas.microsoft.com/office/drawing/2014/main" id="{439FF2AB-0927-408D-96E2-28D6A992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111125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56D9"/>
          </a:solidFill>
          <a:ln xmlns:a="http://schemas.openxmlformats.org/drawingml/2006/main" w="0">
            <a:noFill/>
          </a:ln>
        </p:spPr>
      </p:sp>
      <p:sp>
        <p:nvSpPr>
          <p:cNvPr id="34" name="02">
            <a:extLst xmlns:a="http://schemas.openxmlformats.org/drawingml/2006/main">
              <a:ext uri="{FF2B5EF4-FFF2-40B4-BE49-F238E27FC236}">
                <a16:creationId xmlns:a16="http://schemas.microsoft.com/office/drawing/2014/main" id="{DF56A039-54BC-4056-8226-A83CE253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11162538"/>
            <a:ext cx="469987" cy="423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5" name="A connected learning cycle">
            <a:extLst xmlns:a="http://schemas.openxmlformats.org/drawingml/2006/main">
              <a:ext uri="{FF2B5EF4-FFF2-40B4-BE49-F238E27FC236}">
                <a16:creationId xmlns:a16="http://schemas.microsoft.com/office/drawing/2014/main" id="{D60DF71F-D0D2-4743-BEEE-8DFE2CC6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300" y="11089386"/>
            <a:ext cx="6045702" cy="570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A connected learning cycle</a:t>
            </a:r>
          </a:p>
        </p:txBody>
      </p:sp>
      <p:sp>
        <p:nvSpPr>
          <p:cNvPr id="36" name="INPUT: TOPIC OR TEXT-BASED PDF">
            <a:extLst xmlns:a="http://schemas.openxmlformats.org/drawingml/2006/main">
              <a:ext uri="{FF2B5EF4-FFF2-40B4-BE49-F238E27FC236}">
                <a16:creationId xmlns:a16="http://schemas.microsoft.com/office/drawing/2014/main" id="{549EA3B7-81C2-4B38-9624-7137CB3E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0" y="11209020"/>
            <a:ext cx="5008562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008F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000" b="1">
                <a:solidFill>
                  <a:srgbClr val="008F87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008F87"/>
                </a:solidFill>
                <a:latin typeface="DejaVu Sans"/>
                <a:ea typeface="DejaVu Sans"/>
                <a:cs typeface="DejaVu Sans"/>
              </a:rPr>
              <a:t>INPUT: TOPIC OR TEXT-BASED PDF</a:t>
            </a:r>
          </a:p>
        </p:txBody>
      </p:sp>
      <p:sp>
        <p:nvSpPr>
          <p:cNvPr id="37" name="Panel 37">
            <a:extLst xmlns:a="http://schemas.openxmlformats.org/drawingml/2006/main">
              <a:ext uri="{FF2B5EF4-FFF2-40B4-BE49-F238E27FC236}">
                <a16:creationId xmlns:a16="http://schemas.microsoft.com/office/drawing/2014/main" id="{3334FF00-D9A6-47D6-BD8C-AFD018D3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12039600"/>
            <a:ext cx="3556000" cy="220980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1FC"/>
          </a:solidFill>
          <a:ln xmlns:a="http://schemas.openxmlformats.org/drawingml/2006/main" w="0">
            <a:noFill/>
          </a:ln>
        </p:spPr>
      </p:sp>
      <p:sp>
        <p:nvSpPr>
          <p:cNvPr id="38" name="1">
            <a:extLst xmlns:a="http://schemas.openxmlformats.org/drawingml/2006/main">
              <a:ext uri="{FF2B5EF4-FFF2-40B4-BE49-F238E27FC236}">
                <a16:creationId xmlns:a16="http://schemas.microsoft.com/office/drawing/2014/main" id="{35613765-DD2F-4CF0-BF24-988C7790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2206732"/>
            <a:ext cx="257907" cy="405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6B56D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200" b="1">
                <a:solidFill>
                  <a:srgbClr val="6B56D9"/>
                </a:solidFill>
                <a:latin typeface="DejaVu Sans"/>
                <a:ea typeface="DejaVu Sans"/>
                <a:cs typeface="DejaVu Sans"/>
              </a:defRPr>
            </a:pPr>
            <a:r>
              <a:rPr sz="2200" b="1">
                <a:solidFill>
                  <a:srgbClr val="6B56D9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39" name="Explain">
            <a:extLst xmlns:a="http://schemas.openxmlformats.org/drawingml/2006/main">
              <a:ext uri="{FF2B5EF4-FFF2-40B4-BE49-F238E27FC236}">
                <a16:creationId xmlns:a16="http://schemas.microsoft.com/office/drawing/2014/main" id="{8A7E615C-6029-43C0-A1B1-0A2B72BE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2161774"/>
            <a:ext cx="1579500" cy="534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Explain</a:t>
            </a:r>
          </a:p>
        </p:txBody>
      </p:sp>
      <p:sp>
        <p:nvSpPr>
          <p:cNvPr id="40" name="Study an overview, examples and common mistakes.">
            <a:extLst xmlns:a="http://schemas.openxmlformats.org/drawingml/2006/main">
              <a:ext uri="{FF2B5EF4-FFF2-40B4-BE49-F238E27FC236}">
                <a16:creationId xmlns:a16="http://schemas.microsoft.com/office/drawing/2014/main" id="{D6CEC9D8-7ADD-4DC6-9BB5-AE7F5BEA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762738"/>
            <a:ext cx="3124200" cy="12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8696"/>
              </a:lnSpc>
              <a:buNone/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Study an overview, examples and common mistakes.</a:t>
            </a:r>
          </a:p>
        </p:txBody>
      </p:sp>
      <p:sp>
        <p:nvSpPr>
          <p:cNvPr id="41" name="Diagram line 41">
            <a:extLst xmlns:a="http://schemas.openxmlformats.org/drawingml/2006/main">
              <a:ext uri="{FF2B5EF4-FFF2-40B4-BE49-F238E27FC236}">
                <a16:creationId xmlns:a16="http://schemas.microsoft.com/office/drawing/2014/main" id="{C860B7CE-1AA7-4F9F-BC84-CE6161AE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87900" y="13106400"/>
            <a:ext cx="215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6D9"/>
            </a:solidFill>
            <a:prstDash val="solid"/>
          </a:ln>
        </p:spPr>
      </p:sp>
      <p:sp>
        <p:nvSpPr>
          <p:cNvPr id="42" name="Diagram line 42">
            <a:extLst xmlns:a="http://schemas.openxmlformats.org/drawingml/2006/main">
              <a:ext uri="{FF2B5EF4-FFF2-40B4-BE49-F238E27FC236}">
                <a16:creationId xmlns:a16="http://schemas.microsoft.com/office/drawing/2014/main" id="{2E6DF87A-0BEB-449C-B29A-9EA99E9E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873875" y="13106400"/>
            <a:ext cx="129925" cy="796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6D9"/>
            </a:solidFill>
            <a:prstDash val="solid"/>
          </a:ln>
        </p:spPr>
      </p:sp>
      <p:sp>
        <p:nvSpPr>
          <p:cNvPr id="43" name="Diagram line 43">
            <a:extLst xmlns:a="http://schemas.openxmlformats.org/drawingml/2006/main">
              <a:ext uri="{FF2B5EF4-FFF2-40B4-BE49-F238E27FC236}">
                <a16:creationId xmlns:a16="http://schemas.microsoft.com/office/drawing/2014/main" id="{81B7224A-8CE3-4616-AB3E-811CF2F3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873875" y="13026742"/>
            <a:ext cx="129925" cy="796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6D9"/>
            </a:solidFill>
            <a:prstDash val="solid"/>
          </a:ln>
        </p:spPr>
      </p:sp>
      <p:sp>
        <p:nvSpPr>
          <p:cNvPr id="44" name="Panel 44">
            <a:extLst xmlns:a="http://schemas.openxmlformats.org/drawingml/2006/main">
              <a:ext uri="{FF2B5EF4-FFF2-40B4-BE49-F238E27FC236}">
                <a16:creationId xmlns:a16="http://schemas.microsoft.com/office/drawing/2014/main" id="{898605FC-25D4-4BF4-B986-F501ADAD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600" y="12039600"/>
            <a:ext cx="3556000" cy="220980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1FC"/>
          </a:solidFill>
          <a:ln xmlns:a="http://schemas.openxmlformats.org/drawingml/2006/main" w="0">
            <a:noFill/>
          </a:ln>
        </p:spPr>
      </p:sp>
      <p:sp>
        <p:nvSpPr>
          <p:cNvPr id="45" name="2">
            <a:extLst xmlns:a="http://schemas.openxmlformats.org/drawingml/2006/main">
              <a:ext uri="{FF2B5EF4-FFF2-40B4-BE49-F238E27FC236}">
                <a16:creationId xmlns:a16="http://schemas.microsoft.com/office/drawing/2014/main" id="{7446F09F-C0C1-43E3-9AC2-4F01B85F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12206732"/>
            <a:ext cx="257907" cy="405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6B56D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200" b="1">
                <a:solidFill>
                  <a:srgbClr val="6B56D9"/>
                </a:solidFill>
                <a:latin typeface="DejaVu Sans"/>
                <a:ea typeface="DejaVu Sans"/>
                <a:cs typeface="DejaVu Sans"/>
              </a:defRPr>
            </a:pPr>
            <a:r>
              <a:rPr sz="2200" b="1">
                <a:solidFill>
                  <a:srgbClr val="6B56D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6" name="Examine">
            <a:extLst xmlns:a="http://schemas.openxmlformats.org/drawingml/2006/main">
              <a:ext uri="{FF2B5EF4-FFF2-40B4-BE49-F238E27FC236}">
                <a16:creationId xmlns:a16="http://schemas.microsoft.com/office/drawing/2014/main" id="{B46D7E06-6433-4D9F-9402-6AA2F74A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700" y="12161774"/>
            <a:ext cx="1823176" cy="534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Examine</a:t>
            </a:r>
          </a:p>
        </p:txBody>
      </p:sp>
      <p:sp>
        <p:nvSpPr>
          <p:cNvPr id="47" name="Answer MCQs and short-answer questions.">
            <a:extLst xmlns:a="http://schemas.openxmlformats.org/drawingml/2006/main">
              <a:ext uri="{FF2B5EF4-FFF2-40B4-BE49-F238E27FC236}">
                <a16:creationId xmlns:a16="http://schemas.microsoft.com/office/drawing/2014/main" id="{780A0091-8EBC-4B46-835D-9C9E5DBD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12762738"/>
            <a:ext cx="3124200" cy="12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8696"/>
              </a:lnSpc>
              <a:buNone/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Answer MCQs and short-answer questions.</a:t>
            </a:r>
          </a:p>
        </p:txBody>
      </p:sp>
      <p:sp>
        <p:nvSpPr>
          <p:cNvPr id="48" name="Diagram line 48">
            <a:extLst xmlns:a="http://schemas.openxmlformats.org/drawingml/2006/main">
              <a:ext uri="{FF2B5EF4-FFF2-40B4-BE49-F238E27FC236}">
                <a16:creationId xmlns:a16="http://schemas.microsoft.com/office/drawing/2014/main" id="{D8714DFD-229D-4490-BAC6-4DE4F31E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13106400"/>
            <a:ext cx="215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6D9"/>
            </a:solidFill>
            <a:prstDash val="solid"/>
          </a:ln>
        </p:spPr>
      </p:sp>
      <p:sp>
        <p:nvSpPr>
          <p:cNvPr id="49" name="Diagram line 49">
            <a:extLst xmlns:a="http://schemas.openxmlformats.org/drawingml/2006/main">
              <a:ext uri="{FF2B5EF4-FFF2-40B4-BE49-F238E27FC236}">
                <a16:creationId xmlns:a16="http://schemas.microsoft.com/office/drawing/2014/main" id="{A5A70CEC-5F74-4DE4-B95B-2B0A677A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734675" y="13106400"/>
            <a:ext cx="129925" cy="796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6D9"/>
            </a:solidFill>
            <a:prstDash val="solid"/>
          </a:ln>
        </p:spPr>
      </p:sp>
      <p:sp>
        <p:nvSpPr>
          <p:cNvPr id="50" name="Diagram line 50">
            <a:extLst xmlns:a="http://schemas.openxmlformats.org/drawingml/2006/main">
              <a:ext uri="{FF2B5EF4-FFF2-40B4-BE49-F238E27FC236}">
                <a16:creationId xmlns:a16="http://schemas.microsoft.com/office/drawing/2014/main" id="{E0BACE20-52AE-4C40-8201-DF3B1AED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734675" y="13026742"/>
            <a:ext cx="129925" cy="796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6D9"/>
            </a:solidFill>
            <a:prstDash val="solid"/>
          </a:ln>
        </p:spPr>
      </p:sp>
      <p:sp>
        <p:nvSpPr>
          <p:cNvPr id="51" name="Panel 51">
            <a:extLst xmlns:a="http://schemas.openxmlformats.org/drawingml/2006/main">
              <a:ext uri="{FF2B5EF4-FFF2-40B4-BE49-F238E27FC236}">
                <a16:creationId xmlns:a16="http://schemas.microsoft.com/office/drawing/2014/main" id="{184EFAA0-2E24-43D8-9DF0-57E73FF4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039600"/>
            <a:ext cx="3556000" cy="220980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1FC"/>
          </a:solidFill>
          <a:ln xmlns:a="http://schemas.openxmlformats.org/drawingml/2006/main" w="0">
            <a:noFill/>
          </a:ln>
        </p:spPr>
      </p:sp>
      <p:sp>
        <p:nvSpPr>
          <p:cNvPr id="52" name="3">
            <a:extLst xmlns:a="http://schemas.openxmlformats.org/drawingml/2006/main">
              <a:ext uri="{FF2B5EF4-FFF2-40B4-BE49-F238E27FC236}">
                <a16:creationId xmlns:a16="http://schemas.microsoft.com/office/drawing/2014/main" id="{0C868592-B572-4F07-A03F-B390C08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0" y="12206732"/>
            <a:ext cx="257907" cy="405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6B56D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200" b="1">
                <a:solidFill>
                  <a:srgbClr val="6B56D9"/>
                </a:solidFill>
                <a:latin typeface="DejaVu Sans"/>
                <a:ea typeface="DejaVu Sans"/>
                <a:cs typeface="DejaVu Sans"/>
              </a:defRPr>
            </a:pPr>
            <a:r>
              <a:rPr sz="2200" b="1">
                <a:solidFill>
                  <a:srgbClr val="6B56D9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3" name="Diagnose">
            <a:extLst xmlns:a="http://schemas.openxmlformats.org/drawingml/2006/main">
              <a:ext uri="{FF2B5EF4-FFF2-40B4-BE49-F238E27FC236}">
                <a16:creationId xmlns:a16="http://schemas.microsoft.com/office/drawing/2014/main" id="{C882ADBB-A088-45A9-AFA9-96B2C764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500" y="12161774"/>
            <a:ext cx="1991860" cy="534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Diagnose</a:t>
            </a:r>
          </a:p>
        </p:txBody>
      </p:sp>
      <p:sp>
        <p:nvSpPr>
          <p:cNvPr id="54" name="Use concept tags and scores to locate learning gaps.">
            <a:extLst xmlns:a="http://schemas.openxmlformats.org/drawingml/2006/main">
              <a:ext uri="{FF2B5EF4-FFF2-40B4-BE49-F238E27FC236}">
                <a16:creationId xmlns:a16="http://schemas.microsoft.com/office/drawing/2014/main" id="{B6F830CD-A96A-432E-AD5F-33BC6F96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762738"/>
            <a:ext cx="3124200" cy="12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8696"/>
              </a:lnSpc>
              <a:buNone/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Use concept tags and scores to locate learning gaps.</a:t>
            </a:r>
          </a:p>
        </p:txBody>
      </p:sp>
      <p:sp>
        <p:nvSpPr>
          <p:cNvPr id="55" name="Diagram line 55">
            <a:extLst xmlns:a="http://schemas.openxmlformats.org/drawingml/2006/main">
              <a:ext uri="{FF2B5EF4-FFF2-40B4-BE49-F238E27FC236}">
                <a16:creationId xmlns:a16="http://schemas.microsoft.com/office/drawing/2014/main" id="{1650AFF4-5DCF-4CE0-9031-E0A5A7B4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09500" y="13106400"/>
            <a:ext cx="215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6D9"/>
            </a:solidFill>
            <a:prstDash val="solid"/>
          </a:ln>
        </p:spPr>
      </p:sp>
      <p:sp>
        <p:nvSpPr>
          <p:cNvPr id="56" name="Diagram line 56">
            <a:extLst xmlns:a="http://schemas.openxmlformats.org/drawingml/2006/main">
              <a:ext uri="{FF2B5EF4-FFF2-40B4-BE49-F238E27FC236}">
                <a16:creationId xmlns:a16="http://schemas.microsoft.com/office/drawing/2014/main" id="{41A57C28-9228-44B3-B603-F7EFEE48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595475" y="13106400"/>
            <a:ext cx="129925" cy="796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6D9"/>
            </a:solidFill>
            <a:prstDash val="solid"/>
          </a:ln>
        </p:spPr>
      </p:sp>
      <p:sp>
        <p:nvSpPr>
          <p:cNvPr id="57" name="Diagram line 57">
            <a:extLst xmlns:a="http://schemas.openxmlformats.org/drawingml/2006/main">
              <a:ext uri="{FF2B5EF4-FFF2-40B4-BE49-F238E27FC236}">
                <a16:creationId xmlns:a16="http://schemas.microsoft.com/office/drawing/2014/main" id="{871455DF-B9C2-49B0-A51A-8763B9A2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2595475" y="13026742"/>
            <a:ext cx="129925" cy="796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6D9"/>
            </a:solidFill>
            <a:prstDash val="solid"/>
          </a:ln>
        </p:spPr>
      </p:sp>
      <p:sp>
        <p:nvSpPr>
          <p:cNvPr id="58" name="Panel 58">
            <a:extLst xmlns:a="http://schemas.openxmlformats.org/drawingml/2006/main">
              <a:ext uri="{FF2B5EF4-FFF2-40B4-BE49-F238E27FC236}">
                <a16:creationId xmlns:a16="http://schemas.microsoft.com/office/drawing/2014/main" id="{6FCBB74A-0674-455B-963D-6BDA1A65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6200" y="12039600"/>
            <a:ext cx="3556000" cy="220980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1FC"/>
          </a:solidFill>
          <a:ln xmlns:a="http://schemas.openxmlformats.org/drawingml/2006/main" w="0">
            <a:noFill/>
          </a:ln>
        </p:spPr>
      </p:sp>
      <p:sp>
        <p:nvSpPr>
          <p:cNvPr id="59" name="4">
            <a:extLst xmlns:a="http://schemas.openxmlformats.org/drawingml/2006/main">
              <a:ext uri="{FF2B5EF4-FFF2-40B4-BE49-F238E27FC236}">
                <a16:creationId xmlns:a16="http://schemas.microsoft.com/office/drawing/2014/main" id="{3C9D257C-7BF4-485D-BB28-9619F276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12206732"/>
            <a:ext cx="257907" cy="405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6B56D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200" b="1">
                <a:solidFill>
                  <a:srgbClr val="6B56D9"/>
                </a:solidFill>
                <a:latin typeface="DejaVu Sans"/>
                <a:ea typeface="DejaVu Sans"/>
                <a:cs typeface="DejaVu Sans"/>
              </a:defRPr>
            </a:pPr>
            <a:r>
              <a:rPr sz="2200" b="1">
                <a:solidFill>
                  <a:srgbClr val="6B56D9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0" name="Re-teach">
            <a:extLst xmlns:a="http://schemas.openxmlformats.org/drawingml/2006/main">
              <a:ext uri="{FF2B5EF4-FFF2-40B4-BE49-F238E27FC236}">
                <a16:creationId xmlns:a16="http://schemas.microsoft.com/office/drawing/2014/main" id="{0A1CA70F-68B0-44BA-8208-25E6077C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12161774"/>
            <a:ext cx="1904640" cy="534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Re-teach</a:t>
            </a:r>
          </a:p>
        </p:txBody>
      </p:sp>
      <p:sp>
        <p:nvSpPr>
          <p:cNvPr id="61" name="Revisit gaps with focused lessons and mini-checks.">
            <a:extLst xmlns:a="http://schemas.openxmlformats.org/drawingml/2006/main">
              <a:ext uri="{FF2B5EF4-FFF2-40B4-BE49-F238E27FC236}">
                <a16:creationId xmlns:a16="http://schemas.microsoft.com/office/drawing/2014/main" id="{3808DB6E-C70B-4B40-8EEB-A1E4C1F2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4800" y="12762738"/>
            <a:ext cx="3124200" cy="12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8696"/>
              </a:lnSpc>
              <a:buNone/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Revisit gaps with focused lessons and mini-checks.</a:t>
            </a:r>
          </a:p>
        </p:txBody>
      </p:sp>
      <p:sp>
        <p:nvSpPr>
          <p:cNvPr id="62" name="Diagram line 62">
            <a:extLst xmlns:a="http://schemas.openxmlformats.org/drawingml/2006/main">
              <a:ext uri="{FF2B5EF4-FFF2-40B4-BE49-F238E27FC236}">
                <a16:creationId xmlns:a16="http://schemas.microsoft.com/office/drawing/2014/main" id="{6ADC3FED-30B3-478B-8C64-C1AB5C4F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370300" y="13106400"/>
            <a:ext cx="215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6D9"/>
            </a:solidFill>
            <a:prstDash val="solid"/>
          </a:ln>
        </p:spPr>
      </p:sp>
      <p:sp>
        <p:nvSpPr>
          <p:cNvPr id="63" name="Diagram line 63">
            <a:extLst xmlns:a="http://schemas.openxmlformats.org/drawingml/2006/main">
              <a:ext uri="{FF2B5EF4-FFF2-40B4-BE49-F238E27FC236}">
                <a16:creationId xmlns:a16="http://schemas.microsoft.com/office/drawing/2014/main" id="{06BFFCD1-9CD7-4594-91A7-CAD90B77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6456275" y="13106400"/>
            <a:ext cx="129925" cy="796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6D9"/>
            </a:solidFill>
            <a:prstDash val="solid"/>
          </a:ln>
        </p:spPr>
      </p:sp>
      <p:sp>
        <p:nvSpPr>
          <p:cNvPr id="64" name="Diagram line 64">
            <a:extLst xmlns:a="http://schemas.openxmlformats.org/drawingml/2006/main">
              <a:ext uri="{FF2B5EF4-FFF2-40B4-BE49-F238E27FC236}">
                <a16:creationId xmlns:a16="http://schemas.microsoft.com/office/drawing/2014/main" id="{D320BB28-6171-4DC6-B953-4944FE8D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6456275" y="13026742"/>
            <a:ext cx="129925" cy="796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6D9"/>
            </a:solidFill>
            <a:prstDash val="solid"/>
          </a:ln>
        </p:spPr>
      </p:sp>
      <p:sp>
        <p:nvSpPr>
          <p:cNvPr id="65" name="Panel 65">
            <a:extLst xmlns:a="http://schemas.openxmlformats.org/drawingml/2006/main">
              <a:ext uri="{FF2B5EF4-FFF2-40B4-BE49-F238E27FC236}">
                <a16:creationId xmlns:a16="http://schemas.microsoft.com/office/drawing/2014/main" id="{29AE963F-6F92-4A55-B238-2029D63E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7000" y="12039600"/>
            <a:ext cx="3556000" cy="220980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0">
            <a:noFill/>
          </a:ln>
        </p:spPr>
      </p:sp>
      <p:sp>
        <p:nvSpPr>
          <p:cNvPr id="66" name="5">
            <a:extLst xmlns:a="http://schemas.openxmlformats.org/drawingml/2006/main">
              <a:ext uri="{FF2B5EF4-FFF2-40B4-BE49-F238E27FC236}">
                <a16:creationId xmlns:a16="http://schemas.microsoft.com/office/drawing/2014/main" id="{CF3DA0DB-D075-4898-B387-1CE1C52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2900" y="12206732"/>
            <a:ext cx="257907" cy="405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08F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200" b="1">
                <a:solidFill>
                  <a:srgbClr val="008F87"/>
                </a:solidFill>
                <a:latin typeface="DejaVu Sans"/>
                <a:ea typeface="DejaVu Sans"/>
                <a:cs typeface="DejaVu Sans"/>
              </a:defRPr>
            </a:pPr>
            <a:r>
              <a:rPr sz="2200" b="1">
                <a:solidFill>
                  <a:srgbClr val="008F8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7" name="Recall">
            <a:extLst xmlns:a="http://schemas.openxmlformats.org/drawingml/2006/main">
              <a:ext uri="{FF2B5EF4-FFF2-40B4-BE49-F238E27FC236}">
                <a16:creationId xmlns:a16="http://schemas.microsoft.com/office/drawing/2014/main" id="{8181E708-8FF0-488F-8594-195C53CF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0100" y="12161774"/>
            <a:ext cx="1316224" cy="534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9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Recall</a:t>
            </a:r>
          </a:p>
        </p:txBody>
      </p:sp>
      <p:sp>
        <p:nvSpPr>
          <p:cNvPr id="68" name="Review due concepts and rate recall difficulty.">
            <a:extLst xmlns:a="http://schemas.openxmlformats.org/drawingml/2006/main">
              <a:ext uri="{FF2B5EF4-FFF2-40B4-BE49-F238E27FC236}">
                <a16:creationId xmlns:a16="http://schemas.microsoft.com/office/drawing/2014/main" id="{C800966E-F1BA-471B-BA48-2603D3BA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5600" y="12762738"/>
            <a:ext cx="3124200" cy="12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8696"/>
              </a:lnSpc>
              <a:buNone/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Review due concepts and rate recall difficulty.</a:t>
            </a:r>
          </a:p>
        </p:txBody>
      </p:sp>
      <p:sp>
        <p:nvSpPr>
          <p:cNvPr id="69" name="Review ratings update the next due date, continuing the revision cycle">
            <a:extLst xmlns:a="http://schemas.openxmlformats.org/drawingml/2006/main">
              <a:ext uri="{FF2B5EF4-FFF2-40B4-BE49-F238E27FC236}">
                <a16:creationId xmlns:a16="http://schemas.microsoft.com/office/drawing/2014/main" id="{2FB9F6AC-AD7B-4692-B8FA-157AAD17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358620"/>
            <a:ext cx="9180091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008F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000" b="0">
                <a:solidFill>
                  <a:srgbClr val="008F87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>
                <a:solidFill>
                  <a:srgbClr val="008F87"/>
                </a:solidFill>
                <a:latin typeface="DejaVu Sans"/>
                <a:ea typeface="DejaVu Sans"/>
                <a:cs typeface="DejaVu Sans"/>
              </a:rPr>
              <a:t>Review ratings update the next due date, continuing the revision cycle.</a:t>
            </a:r>
          </a:p>
        </p:txBody>
      </p:sp>
      <p:sp>
        <p:nvSpPr>
          <p:cNvPr id="70" name="Panel 70">
            <a:extLst xmlns:a="http://schemas.openxmlformats.org/drawingml/2006/main">
              <a:ext uri="{FF2B5EF4-FFF2-40B4-BE49-F238E27FC236}">
                <a16:creationId xmlns:a16="http://schemas.microsoft.com/office/drawing/2014/main" id="{6DE2EA23-F271-4E08-965B-7693B252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5265400"/>
            <a:ext cx="9702800" cy="7188200"/>
          </a:xfrm>
          <a:prstGeom xmlns:a="http://schemas.openxmlformats.org/drawingml/2006/main" prst="roundRect">
            <a:avLst>
              <a:gd name="adj" fmla="val 3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1" name="Panel 71">
            <a:extLst xmlns:a="http://schemas.openxmlformats.org/drawingml/2006/main">
              <a:ext uri="{FF2B5EF4-FFF2-40B4-BE49-F238E27FC236}">
                <a16:creationId xmlns:a16="http://schemas.microsoft.com/office/drawing/2014/main" id="{190A02E2-98A5-4B8A-996B-AD692E19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15621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56D9"/>
          </a:solidFill>
          <a:ln xmlns:a="http://schemas.openxmlformats.org/drawingml/2006/main" w="0">
            <a:noFill/>
          </a:ln>
        </p:spPr>
      </p:sp>
      <p:sp>
        <p:nvSpPr>
          <p:cNvPr id="72" name="03">
            <a:extLst xmlns:a="http://schemas.openxmlformats.org/drawingml/2006/main">
              <a:ext uri="{FF2B5EF4-FFF2-40B4-BE49-F238E27FC236}">
                <a16:creationId xmlns:a16="http://schemas.microsoft.com/office/drawing/2014/main" id="{3A3E723C-A3A8-4D6F-8354-4995842E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00" y="15671038"/>
            <a:ext cx="469987" cy="423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73" name="System architecture">
            <a:extLst xmlns:a="http://schemas.openxmlformats.org/drawingml/2006/main">
              <a:ext uri="{FF2B5EF4-FFF2-40B4-BE49-F238E27FC236}">
                <a16:creationId xmlns:a16="http://schemas.microsoft.com/office/drawing/2014/main" id="{91F197B9-FD94-4B6D-8BF6-19DBE3AB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597886"/>
            <a:ext cx="4567213" cy="570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System architecture</a:t>
            </a:r>
          </a:p>
        </p:txBody>
      </p:sp>
      <p:sp>
        <p:nvSpPr>
          <p:cNvPr id="74" name="Panel 74">
            <a:extLst xmlns:a="http://schemas.openxmlformats.org/drawingml/2006/main">
              <a:ext uri="{FF2B5EF4-FFF2-40B4-BE49-F238E27FC236}">
                <a16:creationId xmlns:a16="http://schemas.microsoft.com/office/drawing/2014/main" id="{AA70732D-90A5-4E12-B715-2BE10014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611600"/>
            <a:ext cx="8890000" cy="1168400"/>
          </a:xfrm>
          <a:prstGeom xmlns:a="http://schemas.openxmlformats.org/drawingml/2006/main" prst="roundRect">
            <a:avLst>
              <a:gd name="adj" fmla="val 14130"/>
            </a:avLst>
          </a:prstGeom>
          <a:solidFill xmlns:a="http://schemas.openxmlformats.org/drawingml/2006/main">
            <a:srgbClr val="F1F3F9"/>
          </a:solidFill>
          <a:ln xmlns:a="http://schemas.openxmlformats.org/drawingml/2006/main" w="0">
            <a:noFill/>
          </a:ln>
        </p:spPr>
      </p:sp>
      <p:sp>
        <p:nvSpPr>
          <p:cNvPr id="75" name="Browser interface">
            <a:extLst xmlns:a="http://schemas.openxmlformats.org/drawingml/2006/main">
              <a:ext uri="{FF2B5EF4-FFF2-40B4-BE49-F238E27FC236}">
                <a16:creationId xmlns:a16="http://schemas.microsoft.com/office/drawing/2014/main" id="{EF283A8C-17D6-4A6D-8F82-8A2E1E7D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16732250"/>
            <a:ext cx="3259429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Browser interface</a:t>
            </a:r>
          </a:p>
        </p:txBody>
      </p:sp>
      <p:sp>
        <p:nvSpPr>
          <p:cNvPr id="76" name="HTML + CSS + vanilla JavaScript">
            <a:extLst xmlns:a="http://schemas.openxmlformats.org/drawingml/2006/main">
              <a:ext uri="{FF2B5EF4-FFF2-40B4-BE49-F238E27FC236}">
                <a16:creationId xmlns:a16="http://schemas.microsoft.com/office/drawing/2014/main" id="{5295C193-D547-4FD1-BCC0-9A7986D3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17178020"/>
            <a:ext cx="8382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2500"/>
              </a:lnSpc>
              <a:buNone/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HTML + CSS + vanilla JavaScript</a:t>
            </a:r>
          </a:p>
        </p:txBody>
      </p:sp>
      <p:sp>
        <p:nvSpPr>
          <p:cNvPr id="77" name="Diagram line 77">
            <a:extLst xmlns:a="http://schemas.openxmlformats.org/drawingml/2006/main">
              <a:ext uri="{FF2B5EF4-FFF2-40B4-BE49-F238E27FC236}">
                <a16:creationId xmlns:a16="http://schemas.microsoft.com/office/drawing/2014/main" id="{C62C5B9C-24F0-46AB-B6AC-08306FDA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4200" y="17818100"/>
            <a:ext cx="95" cy="393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8F87"/>
            </a:solidFill>
            <a:prstDash val="solid"/>
          </a:ln>
        </p:spPr>
      </p:sp>
      <p:sp>
        <p:nvSpPr>
          <p:cNvPr id="78" name="Diagram line 78">
            <a:extLst xmlns:a="http://schemas.openxmlformats.org/drawingml/2006/main">
              <a:ext uri="{FF2B5EF4-FFF2-40B4-BE49-F238E27FC236}">
                <a16:creationId xmlns:a16="http://schemas.microsoft.com/office/drawing/2014/main" id="{90DE9E3F-C711-494E-94B6-7CF05BEA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584542" y="18081875"/>
            <a:ext cx="79658" cy="129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8F87"/>
            </a:solidFill>
            <a:prstDash val="solid"/>
          </a:ln>
        </p:spPr>
      </p:sp>
      <p:sp>
        <p:nvSpPr>
          <p:cNvPr id="79" name="Diagram line 79">
            <a:extLst xmlns:a="http://schemas.openxmlformats.org/drawingml/2006/main">
              <a:ext uri="{FF2B5EF4-FFF2-40B4-BE49-F238E27FC236}">
                <a16:creationId xmlns:a16="http://schemas.microsoft.com/office/drawing/2014/main" id="{BB81A0C6-18C5-4806-B9CD-797C68D6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64200" y="18081875"/>
            <a:ext cx="79658" cy="129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8F87"/>
            </a:solidFill>
            <a:prstDash val="solid"/>
          </a:ln>
        </p:spPr>
      </p:sp>
      <p:sp>
        <p:nvSpPr>
          <p:cNvPr id="80" name="Panel 80">
            <a:extLst xmlns:a="http://schemas.openxmlformats.org/drawingml/2006/main">
              <a:ext uri="{FF2B5EF4-FFF2-40B4-BE49-F238E27FC236}">
                <a16:creationId xmlns:a16="http://schemas.microsoft.com/office/drawing/2014/main" id="{FA37DDFF-EF13-455F-91F2-5D1BB6CC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364200"/>
            <a:ext cx="8890000" cy="1193800"/>
          </a:xfrm>
          <a:prstGeom xmlns:a="http://schemas.openxmlformats.org/drawingml/2006/main" prst="roundRect">
            <a:avLst>
              <a:gd name="adj" fmla="val 13830"/>
            </a:avLst>
          </a:prstGeom>
          <a:solidFill xmlns:a="http://schemas.openxmlformats.org/drawingml/2006/main">
            <a:srgbClr val="EAE6FB"/>
          </a:solidFill>
          <a:ln xmlns:a="http://schemas.openxmlformats.org/drawingml/2006/main" w="0">
            <a:noFill/>
          </a:ln>
        </p:spPr>
      </p:sp>
      <p:sp>
        <p:nvSpPr>
          <p:cNvPr id="81" name="Node.js + Express">
            <a:extLst xmlns:a="http://schemas.openxmlformats.org/drawingml/2006/main">
              <a:ext uri="{FF2B5EF4-FFF2-40B4-BE49-F238E27FC236}">
                <a16:creationId xmlns:a16="http://schemas.microsoft.com/office/drawing/2014/main" id="{D3D6F2C5-D827-4122-BDD1-A6F62D35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18484850"/>
            <a:ext cx="3294311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Node.js + Express</a:t>
            </a:r>
          </a:p>
        </p:txBody>
      </p:sp>
      <p:sp>
        <p:nvSpPr>
          <p:cNvPr id="82" name="Serves the interface and coordinates the APIs">
            <a:extLst xmlns:a="http://schemas.openxmlformats.org/drawingml/2006/main">
              <a:ext uri="{FF2B5EF4-FFF2-40B4-BE49-F238E27FC236}">
                <a16:creationId xmlns:a16="http://schemas.microsoft.com/office/drawing/2014/main" id="{23F10C85-D719-40CB-94D8-63D70205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18930620"/>
            <a:ext cx="8382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2500"/>
              </a:lnSpc>
              <a:buNone/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Serves the interface and coordinates the APIs</a:t>
            </a:r>
          </a:p>
        </p:txBody>
      </p:sp>
      <p:sp>
        <p:nvSpPr>
          <p:cNvPr id="83" name="Diagram line 83">
            <a:extLst xmlns:a="http://schemas.openxmlformats.org/drawingml/2006/main">
              <a:ext uri="{FF2B5EF4-FFF2-40B4-BE49-F238E27FC236}">
                <a16:creationId xmlns:a16="http://schemas.microsoft.com/office/drawing/2014/main" id="{384ED535-EC24-4397-BC6F-2E491DC9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4200" y="19570700"/>
            <a:ext cx="95" cy="27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8F87"/>
            </a:solidFill>
            <a:prstDash val="solid"/>
          </a:ln>
        </p:spPr>
      </p:sp>
      <p:sp>
        <p:nvSpPr>
          <p:cNvPr id="84" name="Diagram line 84">
            <a:extLst xmlns:a="http://schemas.openxmlformats.org/drawingml/2006/main">
              <a:ext uri="{FF2B5EF4-FFF2-40B4-BE49-F238E27FC236}">
                <a16:creationId xmlns:a16="http://schemas.microsoft.com/office/drawing/2014/main" id="{1052619A-4E94-401E-80DD-99B1DEC2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19850100"/>
            <a:ext cx="4470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8F87"/>
            </a:solidFill>
            <a:prstDash val="solid"/>
          </a:ln>
        </p:spPr>
      </p:sp>
      <p:sp>
        <p:nvSpPr>
          <p:cNvPr id="85" name="Diagram line 85">
            <a:extLst xmlns:a="http://schemas.openxmlformats.org/drawingml/2006/main">
              <a:ext uri="{FF2B5EF4-FFF2-40B4-BE49-F238E27FC236}">
                <a16:creationId xmlns:a16="http://schemas.microsoft.com/office/drawing/2014/main" id="{2FEF4D00-4CB5-41FE-9476-D861E881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19850100"/>
            <a:ext cx="9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8F87"/>
            </a:solidFill>
            <a:prstDash val="solid"/>
          </a:ln>
        </p:spPr>
      </p:sp>
      <p:sp>
        <p:nvSpPr>
          <p:cNvPr id="86" name="Diagram line 86">
            <a:extLst xmlns:a="http://schemas.openxmlformats.org/drawingml/2006/main">
              <a:ext uri="{FF2B5EF4-FFF2-40B4-BE49-F238E27FC236}">
                <a16:creationId xmlns:a16="http://schemas.microsoft.com/office/drawing/2014/main" id="{D012BDFC-795D-4D74-AFEF-D8CA7162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349342" y="19986875"/>
            <a:ext cx="79658" cy="129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8F87"/>
            </a:solidFill>
            <a:prstDash val="solid"/>
          </a:ln>
        </p:spPr>
      </p:sp>
      <p:sp>
        <p:nvSpPr>
          <p:cNvPr id="87" name="Diagram line 87">
            <a:extLst xmlns:a="http://schemas.openxmlformats.org/drawingml/2006/main">
              <a:ext uri="{FF2B5EF4-FFF2-40B4-BE49-F238E27FC236}">
                <a16:creationId xmlns:a16="http://schemas.microsoft.com/office/drawing/2014/main" id="{F50ABC0A-A998-40C7-B344-DB5719BD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29000" y="19986875"/>
            <a:ext cx="79658" cy="129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8F87"/>
            </a:solidFill>
            <a:prstDash val="solid"/>
          </a:ln>
        </p:spPr>
      </p:sp>
      <p:sp>
        <p:nvSpPr>
          <p:cNvPr id="88" name="Diagram line 88">
            <a:extLst xmlns:a="http://schemas.openxmlformats.org/drawingml/2006/main">
              <a:ext uri="{FF2B5EF4-FFF2-40B4-BE49-F238E27FC236}">
                <a16:creationId xmlns:a16="http://schemas.microsoft.com/office/drawing/2014/main" id="{62E6DA45-7043-416F-9B99-868535EA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99400" y="19850100"/>
            <a:ext cx="9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8F87"/>
            </a:solidFill>
            <a:prstDash val="solid"/>
          </a:ln>
        </p:spPr>
      </p:sp>
      <p:sp>
        <p:nvSpPr>
          <p:cNvPr id="89" name="Diagram line 89">
            <a:extLst xmlns:a="http://schemas.openxmlformats.org/drawingml/2006/main">
              <a:ext uri="{FF2B5EF4-FFF2-40B4-BE49-F238E27FC236}">
                <a16:creationId xmlns:a16="http://schemas.microsoft.com/office/drawing/2014/main" id="{D2535B64-EC6F-46AD-B650-DCF7C9E0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819742" y="19986875"/>
            <a:ext cx="79658" cy="129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8F87"/>
            </a:solidFill>
            <a:prstDash val="solid"/>
          </a:ln>
        </p:spPr>
      </p:sp>
      <p:sp>
        <p:nvSpPr>
          <p:cNvPr id="90" name="Diagram line 90">
            <a:extLst xmlns:a="http://schemas.openxmlformats.org/drawingml/2006/main">
              <a:ext uri="{FF2B5EF4-FFF2-40B4-BE49-F238E27FC236}">
                <a16:creationId xmlns:a16="http://schemas.microsoft.com/office/drawing/2014/main" id="{545B4D7B-55E8-4A85-90AC-FBFD06EB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899400" y="19986875"/>
            <a:ext cx="79658" cy="129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8F87"/>
            </a:solidFill>
            <a:prstDash val="solid"/>
          </a:ln>
        </p:spPr>
      </p:sp>
      <p:sp>
        <p:nvSpPr>
          <p:cNvPr id="91" name="Panel 91">
            <a:extLst xmlns:a="http://schemas.openxmlformats.org/drawingml/2006/main">
              <a:ext uri="{FF2B5EF4-FFF2-40B4-BE49-F238E27FC236}">
                <a16:creationId xmlns:a16="http://schemas.microsoft.com/office/drawing/2014/main" id="{057EF9D5-4AC4-461E-99DC-32BE434A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256500"/>
            <a:ext cx="4292600" cy="1511300"/>
          </a:xfrm>
          <a:prstGeom xmlns:a="http://schemas.openxmlformats.org/drawingml/2006/main" prst="roundRect">
            <a:avLst>
              <a:gd name="adj" fmla="val 10924"/>
            </a:avLst>
          </a:prstGeom>
          <a:solidFill xmlns:a="http://schemas.openxmlformats.org/drawingml/2006/main">
            <a:srgbClr val="F1F3F9"/>
          </a:solidFill>
          <a:ln xmlns:a="http://schemas.openxmlformats.org/drawingml/2006/main" w="0">
            <a:noFill/>
          </a:ln>
        </p:spPr>
      </p:sp>
      <p:sp>
        <p:nvSpPr>
          <p:cNvPr id="92" name="OpenRouter LLM">
            <a:extLst xmlns:a="http://schemas.openxmlformats.org/drawingml/2006/main">
              <a:ext uri="{FF2B5EF4-FFF2-40B4-BE49-F238E27FC236}">
                <a16:creationId xmlns:a16="http://schemas.microsoft.com/office/drawing/2014/main" id="{99D03385-38CC-4E0F-855B-F223248D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20377150"/>
            <a:ext cx="3045489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OpenRouter LLM</a:t>
            </a:r>
          </a:p>
        </p:txBody>
      </p:sp>
      <p:sp>
        <p:nvSpPr>
          <p:cNvPr id="93" name="Lessons, exams, gradingand focused re-teaching">
            <a:extLst xmlns:a="http://schemas.openxmlformats.org/drawingml/2006/main">
              <a:ext uri="{FF2B5EF4-FFF2-40B4-BE49-F238E27FC236}">
                <a16:creationId xmlns:a16="http://schemas.microsoft.com/office/drawing/2014/main" id="{966005CD-37A4-49E0-8CBD-6749FFE6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20822920"/>
            <a:ext cx="37846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2500"/>
              </a:lnSpc>
              <a:buNone/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Lessons, exams, grading</a:t>
            </a:r>
          </a:p>
          <a:p xmlns:a="http://schemas.openxmlformats.org/drawingml/2006/main">
            <a:pPr>
              <a:lnSpc>
                <a:spcPct val="112500"/>
              </a:lnSpc>
              <a:buNone/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and focused re-teaching</a:t>
            </a:r>
          </a:p>
        </p:txBody>
      </p:sp>
      <p:sp>
        <p:nvSpPr>
          <p:cNvPr id="94" name="Panel 94">
            <a:extLst xmlns:a="http://schemas.openxmlformats.org/drawingml/2006/main">
              <a:ext uri="{FF2B5EF4-FFF2-40B4-BE49-F238E27FC236}">
                <a16:creationId xmlns:a16="http://schemas.microsoft.com/office/drawing/2014/main" id="{5B4F2881-BF02-42CB-8F5F-F14888F9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20256500"/>
            <a:ext cx="4292600" cy="1511300"/>
          </a:xfrm>
          <a:prstGeom xmlns:a="http://schemas.openxmlformats.org/drawingml/2006/main" prst="roundRect">
            <a:avLst>
              <a:gd name="adj" fmla="val 10924"/>
            </a:avLst>
          </a:prstGeom>
          <a:solidFill xmlns:a="http://schemas.openxmlformats.org/drawingml/2006/main">
            <a:srgbClr val="F1F3F9"/>
          </a:solidFill>
          <a:ln xmlns:a="http://schemas.openxmlformats.org/drawingml/2006/main" w="0">
            <a:noFill/>
          </a:ln>
        </p:spPr>
      </p:sp>
      <p:sp>
        <p:nvSpPr>
          <p:cNvPr id="95" name="PostgreSQL">
            <a:extLst xmlns:a="http://schemas.openxmlformats.org/drawingml/2006/main">
              <a:ext uri="{FF2B5EF4-FFF2-40B4-BE49-F238E27FC236}">
                <a16:creationId xmlns:a16="http://schemas.microsoft.com/office/drawing/2014/main" id="{7D02C382-7F48-4DBC-9057-E1BC7B7A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0377150"/>
            <a:ext cx="215515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PostgreSQL</a:t>
            </a:r>
          </a:p>
        </p:txBody>
      </p:sp>
      <p:sp>
        <p:nvSpPr>
          <p:cNvPr id="96" name="Supabase database forstudy and review records">
            <a:extLst xmlns:a="http://schemas.openxmlformats.org/drawingml/2006/main">
              <a:ext uri="{FF2B5EF4-FFF2-40B4-BE49-F238E27FC236}">
                <a16:creationId xmlns:a16="http://schemas.microsoft.com/office/drawing/2014/main" id="{0E450989-E8BC-4923-B4A0-EC818286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0822920"/>
            <a:ext cx="37846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2500"/>
              </a:lnSpc>
              <a:buNone/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Supabase database for</a:t>
            </a:r>
          </a:p>
          <a:p xmlns:a="http://schemas.openxmlformats.org/drawingml/2006/main">
            <a:pPr>
              <a:lnSpc>
                <a:spcPct val="112500"/>
              </a:lnSpc>
              <a:buNone/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study and review records</a:t>
            </a:r>
          </a:p>
        </p:txBody>
      </p:sp>
      <p:sp>
        <p:nvSpPr>
          <p:cNvPr id="97" name="PDF extraction: pdf-parse  |  Hosting: Render">
            <a:extLst xmlns:a="http://schemas.openxmlformats.org/drawingml/2006/main">
              <a:ext uri="{FF2B5EF4-FFF2-40B4-BE49-F238E27FC236}">
                <a16:creationId xmlns:a16="http://schemas.microsoft.com/office/drawing/2014/main" id="{58AC319E-F65C-475A-B5BB-167529B7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21965920"/>
            <a:ext cx="5772919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PDF extraction: pdf-parse  |  Hosting: Render</a:t>
            </a:r>
          </a:p>
        </p:txBody>
      </p:sp>
      <p:sp>
        <p:nvSpPr>
          <p:cNvPr id="98" name="Panel 98">
            <a:extLst xmlns:a="http://schemas.openxmlformats.org/drawingml/2006/main">
              <a:ext uri="{FF2B5EF4-FFF2-40B4-BE49-F238E27FC236}">
                <a16:creationId xmlns:a16="http://schemas.microsoft.com/office/drawing/2014/main" id="{1B9ACBB2-197F-4784-83D3-56CC70AC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15265400"/>
            <a:ext cx="9702800" cy="7188200"/>
          </a:xfrm>
          <a:prstGeom xmlns:a="http://schemas.openxmlformats.org/drawingml/2006/main" prst="roundRect">
            <a:avLst>
              <a:gd name="adj" fmla="val 3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9" name="Panel 99">
            <a:extLst xmlns:a="http://schemas.openxmlformats.org/drawingml/2006/main">
              <a:ext uri="{FF2B5EF4-FFF2-40B4-BE49-F238E27FC236}">
                <a16:creationId xmlns:a16="http://schemas.microsoft.com/office/drawing/2014/main" id="{D815A54D-350E-40F0-91FF-CBDB5A40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800" y="15621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56D9"/>
          </a:solidFill>
          <a:ln xmlns:a="http://schemas.openxmlformats.org/drawingml/2006/main" w="0">
            <a:noFill/>
          </a:ln>
        </p:spPr>
      </p:sp>
      <p:sp>
        <p:nvSpPr>
          <p:cNvPr id="100" name="04">
            <a:extLst xmlns:a="http://schemas.openxmlformats.org/drawingml/2006/main">
              <a:ext uri="{FF2B5EF4-FFF2-40B4-BE49-F238E27FC236}">
                <a16:creationId xmlns:a16="http://schemas.microsoft.com/office/drawing/2014/main" id="{26550B11-BB29-473C-AAA9-5E07F2D5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100" y="15671038"/>
            <a:ext cx="469987" cy="423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01" name="How adaptation works">
            <a:extLst xmlns:a="http://schemas.openxmlformats.org/drawingml/2006/main">
              <a:ext uri="{FF2B5EF4-FFF2-40B4-BE49-F238E27FC236}">
                <a16:creationId xmlns:a16="http://schemas.microsoft.com/office/drawing/2014/main" id="{582E8E10-A4A7-48C2-82E1-9CF5723D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15597886"/>
            <a:ext cx="5048572" cy="570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How adaptation works</a:t>
            </a:r>
          </a:p>
        </p:txBody>
      </p:sp>
      <p:sp>
        <p:nvSpPr>
          <p:cNvPr id="102" name="Panel 102">
            <a:extLst xmlns:a="http://schemas.openxmlformats.org/drawingml/2006/main">
              <a:ext uri="{FF2B5EF4-FFF2-40B4-BE49-F238E27FC236}">
                <a16:creationId xmlns:a16="http://schemas.microsoft.com/office/drawing/2014/main" id="{340388C3-B746-4475-8D82-252E2A12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6713200"/>
            <a:ext cx="11430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87"/>
          </a:solidFill>
          <a:ln xmlns:a="http://schemas.openxmlformats.org/drawingml/2006/main" w="0">
            <a:noFill/>
          </a:ln>
        </p:spPr>
      </p:sp>
      <p:sp>
        <p:nvSpPr>
          <p:cNvPr id="103" name="Assess understanding">
            <a:extLst xmlns:a="http://schemas.openxmlformats.org/drawingml/2006/main">
              <a:ext uri="{FF2B5EF4-FFF2-40B4-BE49-F238E27FC236}">
                <a16:creationId xmlns:a16="http://schemas.microsoft.com/office/drawing/2014/main" id="{6DDC0DF2-3B24-4C04-A65C-123B1C94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16541750"/>
            <a:ext cx="4012716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Assess understanding</a:t>
            </a:r>
          </a:p>
        </p:txBody>
      </p:sp>
      <p:sp>
        <p:nvSpPr>
          <p:cNvPr id="104" name="MCQs use answer matching; short answers receive AI-generated scores an">
            <a:extLst xmlns:a="http://schemas.openxmlformats.org/drawingml/2006/main">
              <a:ext uri="{FF2B5EF4-FFF2-40B4-BE49-F238E27FC236}">
                <a16:creationId xmlns:a16="http://schemas.microsoft.com/office/drawing/2014/main" id="{172A7641-E1B7-4CE6-8F62-2E0DD15A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17004538"/>
            <a:ext cx="85979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2319"/>
              </a:lnSpc>
              <a:buNone/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MCQs use answer matching; short answers receive AI-generated scores and feedback.</a:t>
            </a:r>
          </a:p>
        </p:txBody>
      </p:sp>
      <p:sp>
        <p:nvSpPr>
          <p:cNvPr id="105" name="Panel 105">
            <a:extLst xmlns:a="http://schemas.openxmlformats.org/drawingml/2006/main">
              <a:ext uri="{FF2B5EF4-FFF2-40B4-BE49-F238E27FC236}">
                <a16:creationId xmlns:a16="http://schemas.microsoft.com/office/drawing/2014/main" id="{C60557FE-16D1-471E-811B-A6E6136F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8186400"/>
            <a:ext cx="11430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87"/>
          </a:solidFill>
          <a:ln xmlns:a="http://schemas.openxmlformats.org/drawingml/2006/main" w="0">
            <a:noFill/>
          </a:ln>
        </p:spPr>
      </p:sp>
      <p:sp>
        <p:nvSpPr>
          <p:cNvPr id="106" name="Identify weak concepts">
            <a:extLst xmlns:a="http://schemas.openxmlformats.org/drawingml/2006/main">
              <a:ext uri="{FF2B5EF4-FFF2-40B4-BE49-F238E27FC236}">
                <a16:creationId xmlns:a16="http://schemas.microsoft.com/office/drawing/2014/main" id="{BF3CA973-39F3-4C0C-9DA3-DD21F74B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18014950"/>
            <a:ext cx="421503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Identify weak concepts</a:t>
            </a:r>
          </a:p>
        </p:txBody>
      </p:sp>
      <p:sp>
        <p:nvSpPr>
          <p:cNvPr id="107" name="Question-level concept tags connect incorrect or low-scoring answers t">
            <a:extLst xmlns:a="http://schemas.openxmlformats.org/drawingml/2006/main">
              <a:ext uri="{FF2B5EF4-FFF2-40B4-BE49-F238E27FC236}">
                <a16:creationId xmlns:a16="http://schemas.microsoft.com/office/drawing/2014/main" id="{F696FB91-A7B7-453E-A15E-502EDEF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18477738"/>
            <a:ext cx="85979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2319"/>
              </a:lnSpc>
              <a:buNone/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Question-level concept tags connect incorrect or low-scoring answers to specific learning gaps.</a:t>
            </a:r>
          </a:p>
        </p:txBody>
      </p:sp>
      <p:sp>
        <p:nvSpPr>
          <p:cNvPr id="108" name="Panel 108">
            <a:extLst xmlns:a="http://schemas.openxmlformats.org/drawingml/2006/main">
              <a:ext uri="{FF2B5EF4-FFF2-40B4-BE49-F238E27FC236}">
                <a16:creationId xmlns:a16="http://schemas.microsoft.com/office/drawing/2014/main" id="{186B03E6-744A-402B-BD91-7978F208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9659600"/>
            <a:ext cx="11430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87"/>
          </a:solidFill>
          <a:ln xmlns:a="http://schemas.openxmlformats.org/drawingml/2006/main" w="0">
            <a:noFill/>
          </a:ln>
        </p:spPr>
      </p:sp>
      <p:sp>
        <p:nvSpPr>
          <p:cNvPr id="109" name="Prioritize the first review">
            <a:extLst xmlns:a="http://schemas.openxmlformats.org/drawingml/2006/main">
              <a:ext uri="{FF2B5EF4-FFF2-40B4-BE49-F238E27FC236}">
                <a16:creationId xmlns:a16="http://schemas.microsoft.com/office/drawing/2014/main" id="{07E16AD7-2D3D-4B11-9DA3-53F9AFFC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19488150"/>
            <a:ext cx="4571287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Prioritize the first review</a:t>
            </a:r>
          </a:p>
        </p:txBody>
      </p:sp>
      <p:sp>
        <p:nvSpPr>
          <p:cNvPr id="110" name="High-severity gaps are scheduled after 1 day; medium-severity gaps aft">
            <a:extLst xmlns:a="http://schemas.openxmlformats.org/drawingml/2006/main">
              <a:ext uri="{FF2B5EF4-FFF2-40B4-BE49-F238E27FC236}">
                <a16:creationId xmlns:a16="http://schemas.microsoft.com/office/drawing/2014/main" id="{A0805207-B709-43FC-BD1E-2334F2F9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19950938"/>
            <a:ext cx="85979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2319"/>
              </a:lnSpc>
              <a:buNone/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High-severity gaps are scheduled after 1 day; medium-severity gaps after 2 days.</a:t>
            </a:r>
          </a:p>
        </p:txBody>
      </p:sp>
      <p:sp>
        <p:nvSpPr>
          <p:cNvPr id="111" name="Panel 111">
            <a:extLst xmlns:a="http://schemas.openxmlformats.org/drawingml/2006/main">
              <a:ext uri="{FF2B5EF4-FFF2-40B4-BE49-F238E27FC236}">
                <a16:creationId xmlns:a16="http://schemas.microsoft.com/office/drawing/2014/main" id="{382A5824-94B1-4ED9-A536-FEC70FE8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1132800"/>
            <a:ext cx="11430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87"/>
          </a:solidFill>
          <a:ln xmlns:a="http://schemas.openxmlformats.org/drawingml/2006/main" w="0">
            <a:noFill/>
          </a:ln>
        </p:spPr>
      </p:sp>
      <p:sp>
        <p:nvSpPr>
          <p:cNvPr id="112" name="Adapt future intervals">
            <a:extLst xmlns:a="http://schemas.openxmlformats.org/drawingml/2006/main">
              <a:ext uri="{FF2B5EF4-FFF2-40B4-BE49-F238E27FC236}">
                <a16:creationId xmlns:a16="http://schemas.microsoft.com/office/drawing/2014/main" id="{E17AA0C1-E486-4B58-9C41-8B16213A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20961350"/>
            <a:ext cx="4042327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5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Adapt future intervals</a:t>
            </a:r>
          </a:p>
        </p:txBody>
      </p:sp>
      <p:sp>
        <p:nvSpPr>
          <p:cNvPr id="113" name="Again, Hard, Good and Easy ratings feed SM-2 to update the next review">
            <a:extLst xmlns:a="http://schemas.openxmlformats.org/drawingml/2006/main">
              <a:ext uri="{FF2B5EF4-FFF2-40B4-BE49-F238E27FC236}">
                <a16:creationId xmlns:a16="http://schemas.microsoft.com/office/drawing/2014/main" id="{D0626625-C8E6-4CF5-A3B8-28FDC8A4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21424138"/>
            <a:ext cx="85979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2319"/>
              </a:lnSpc>
              <a:buNone/>
              <a:def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3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Again, Hard, Good and Easy ratings feed SM-2 to update the next review date.</a:t>
            </a:r>
          </a:p>
        </p:txBody>
      </p:sp>
      <p:sp>
        <p:nvSpPr>
          <p:cNvPr id="114" name="Panel 114">
            <a:extLst xmlns:a="http://schemas.openxmlformats.org/drawingml/2006/main">
              <a:ext uri="{FF2B5EF4-FFF2-40B4-BE49-F238E27FC236}">
                <a16:creationId xmlns:a16="http://schemas.microsoft.com/office/drawing/2014/main" id="{A24AFFF9-D726-4532-B1A8-130AB606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2910800"/>
            <a:ext cx="9702800" cy="4254500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5" name="Panel 115">
            <a:extLst xmlns:a="http://schemas.openxmlformats.org/drawingml/2006/main">
              <a:ext uri="{FF2B5EF4-FFF2-40B4-BE49-F238E27FC236}">
                <a16:creationId xmlns:a16="http://schemas.microsoft.com/office/drawing/2014/main" id="{12E61AF5-FCE3-4D52-9575-09F8149E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232664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56D9"/>
          </a:solidFill>
          <a:ln xmlns:a="http://schemas.openxmlformats.org/drawingml/2006/main" w="0">
            <a:noFill/>
          </a:ln>
        </p:spPr>
      </p:sp>
      <p:sp>
        <p:nvSpPr>
          <p:cNvPr id="116" name="05">
            <a:extLst xmlns:a="http://schemas.openxmlformats.org/drawingml/2006/main">
              <a:ext uri="{FF2B5EF4-FFF2-40B4-BE49-F238E27FC236}">
                <a16:creationId xmlns:a16="http://schemas.microsoft.com/office/drawing/2014/main" id="{769B07B6-7E3F-4286-8EEB-F5626EEC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00" y="23316438"/>
            <a:ext cx="469987" cy="423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17" name="Implemented capabilities">
            <a:extLst xmlns:a="http://schemas.openxmlformats.org/drawingml/2006/main">
              <a:ext uri="{FF2B5EF4-FFF2-40B4-BE49-F238E27FC236}">
                <a16:creationId xmlns:a16="http://schemas.microsoft.com/office/drawing/2014/main" id="{4CDF85A8-347F-4C5B-8120-D0FF205C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3286"/>
            <a:ext cx="5693333" cy="570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Implemented capabilities</a:t>
            </a:r>
          </a:p>
        </p:txBody>
      </p:sp>
      <p:sp>
        <p:nvSpPr>
          <p:cNvPr id="118" name="Panel 118">
            <a:extLst xmlns:a="http://schemas.openxmlformats.org/drawingml/2006/main">
              <a:ext uri="{FF2B5EF4-FFF2-40B4-BE49-F238E27FC236}">
                <a16:creationId xmlns:a16="http://schemas.microsoft.com/office/drawing/2014/main" id="{2F44D8A0-F1A8-4243-BEBC-06D93992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231600"/>
            <a:ext cx="11430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87"/>
          </a:solidFill>
          <a:ln xmlns:a="http://schemas.openxmlformats.org/drawingml/2006/main" w="0">
            <a:noFill/>
          </a:ln>
        </p:spPr>
      </p:sp>
      <p:sp>
        <p:nvSpPr>
          <p:cNvPr id="119" name="Flexible study input">
            <a:extLst xmlns:a="http://schemas.openxmlformats.org/drawingml/2006/main">
              <a:ext uri="{FF2B5EF4-FFF2-40B4-BE49-F238E27FC236}">
                <a16:creationId xmlns:a16="http://schemas.microsoft.com/office/drawing/2014/main" id="{F24CA9D0-D0D0-472F-AD44-D7E0839A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00" y="24062944"/>
            <a:ext cx="3488928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Flexible study input</a:t>
            </a:r>
          </a:p>
        </p:txBody>
      </p:sp>
      <p:sp>
        <p:nvSpPr>
          <p:cNvPr id="120" name="Topics and text-based PDF uploads.">
            <a:extLst xmlns:a="http://schemas.openxmlformats.org/drawingml/2006/main">
              <a:ext uri="{FF2B5EF4-FFF2-40B4-BE49-F238E27FC236}">
                <a16:creationId xmlns:a16="http://schemas.microsoft.com/office/drawing/2014/main" id="{64BCEEDA-B982-4C2C-8649-B9AE03C3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00" y="24513032"/>
            <a:ext cx="85725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9848"/>
              </a:lnSpc>
              <a:buNone/>
              <a:defRPr sz="22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2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Topics and text-based PDF uploads.</a:t>
            </a:r>
          </a:p>
        </p:txBody>
      </p:sp>
      <p:sp>
        <p:nvSpPr>
          <p:cNvPr id="121" name="Panel 121">
            <a:extLst xmlns:a="http://schemas.openxmlformats.org/drawingml/2006/main">
              <a:ext uri="{FF2B5EF4-FFF2-40B4-BE49-F238E27FC236}">
                <a16:creationId xmlns:a16="http://schemas.microsoft.com/office/drawing/2014/main" id="{E6439EBC-45D7-4D23-B960-33BA019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209500"/>
            <a:ext cx="11430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87"/>
          </a:solidFill>
          <a:ln xmlns:a="http://schemas.openxmlformats.org/drawingml/2006/main" w="0">
            <a:noFill/>
          </a:ln>
        </p:spPr>
      </p:sp>
      <p:sp>
        <p:nvSpPr>
          <p:cNvPr id="122" name="Visible learning progress">
            <a:extLst xmlns:a="http://schemas.openxmlformats.org/drawingml/2006/main">
              <a:ext uri="{FF2B5EF4-FFF2-40B4-BE49-F238E27FC236}">
                <a16:creationId xmlns:a16="http://schemas.microsoft.com/office/drawing/2014/main" id="{00C5F973-3280-43F9-A995-9602CCCC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00" y="25040844"/>
            <a:ext cx="4371181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Visible learning progress</a:t>
            </a:r>
          </a:p>
        </p:txBody>
      </p:sp>
      <p:sp>
        <p:nvSpPr>
          <p:cNvPr id="123" name="Study history, scores and due-review queue.">
            <a:extLst xmlns:a="http://schemas.openxmlformats.org/drawingml/2006/main">
              <a:ext uri="{FF2B5EF4-FFF2-40B4-BE49-F238E27FC236}">
                <a16:creationId xmlns:a16="http://schemas.microsoft.com/office/drawing/2014/main" id="{500C801B-D2B6-42B9-9E53-542742CE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00" y="25490932"/>
            <a:ext cx="85725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9848"/>
              </a:lnSpc>
              <a:buNone/>
              <a:defRPr sz="22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2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Study history, scores and due-review queue.</a:t>
            </a:r>
          </a:p>
        </p:txBody>
      </p:sp>
      <p:sp>
        <p:nvSpPr>
          <p:cNvPr id="124" name="Panel 124">
            <a:extLst xmlns:a="http://schemas.openxmlformats.org/drawingml/2006/main">
              <a:ext uri="{FF2B5EF4-FFF2-40B4-BE49-F238E27FC236}">
                <a16:creationId xmlns:a16="http://schemas.microsoft.com/office/drawing/2014/main" id="{A337D195-8EEF-44A1-84C4-2EC8779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187400"/>
            <a:ext cx="11430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87"/>
          </a:solidFill>
          <a:ln xmlns:a="http://schemas.openxmlformats.org/drawingml/2006/main" w="0">
            <a:noFill/>
          </a:ln>
        </p:spPr>
      </p:sp>
      <p:sp>
        <p:nvSpPr>
          <p:cNvPr id="125" name="Structured AI responses">
            <a:extLst xmlns:a="http://schemas.openxmlformats.org/drawingml/2006/main">
              <a:ext uri="{FF2B5EF4-FFF2-40B4-BE49-F238E27FC236}">
                <a16:creationId xmlns:a16="http://schemas.microsoft.com/office/drawing/2014/main" id="{024FD71E-3CC5-4871-9E23-76A12C96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00" y="26018744"/>
            <a:ext cx="4228753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Structured AI responses</a:t>
            </a:r>
          </a:p>
        </p:txBody>
      </p:sp>
      <p:sp>
        <p:nvSpPr>
          <p:cNvPr id="126" name="JSON schemas, validation and retry/fallback logic.">
            <a:extLst xmlns:a="http://schemas.openxmlformats.org/drawingml/2006/main">
              <a:ext uri="{FF2B5EF4-FFF2-40B4-BE49-F238E27FC236}">
                <a16:creationId xmlns:a16="http://schemas.microsoft.com/office/drawing/2014/main" id="{BA1CFF27-A5BF-40E9-9E0D-25B10AD5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00" y="26468832"/>
            <a:ext cx="85725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9848"/>
              </a:lnSpc>
              <a:buNone/>
              <a:defRPr sz="2200" b="0">
                <a:solidFill>
                  <a:srgbClr val="526078"/>
                </a:solidFill>
                <a:latin typeface="DejaVu Sans"/>
                <a:ea typeface="DejaVu Sans"/>
                <a:cs typeface="DejaVu Sans"/>
              </a:defRPr>
            </a:pPr>
            <a:r>
              <a:rPr sz="2200" b="0">
                <a:solidFill>
                  <a:srgbClr val="526078"/>
                </a:solidFill>
                <a:latin typeface="DejaVu Sans"/>
                <a:ea typeface="DejaVu Sans"/>
                <a:cs typeface="DejaVu Sans"/>
              </a:rPr>
              <a:t>JSON schemas, validation and retry/fallback logic.</a:t>
            </a:r>
          </a:p>
        </p:txBody>
      </p:sp>
      <p:sp>
        <p:nvSpPr>
          <p:cNvPr id="127" name="Panel 127">
            <a:extLst xmlns:a="http://schemas.openxmlformats.org/drawingml/2006/main">
              <a:ext uri="{FF2B5EF4-FFF2-40B4-BE49-F238E27FC236}">
                <a16:creationId xmlns:a16="http://schemas.microsoft.com/office/drawing/2014/main" id="{AB9569A3-C87C-4468-AF5D-BD33C3E0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22910800"/>
            <a:ext cx="9702800" cy="4254500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E5F2F0"/>
          </a:solidFill>
          <a:ln xmlns:a="http://schemas.openxmlformats.org/drawingml/2006/main" w="0">
            <a:noFill/>
          </a:ln>
        </p:spPr>
      </p:sp>
      <p:sp>
        <p:nvSpPr>
          <p:cNvPr id="128" name="Panel 128">
            <a:extLst xmlns:a="http://schemas.openxmlformats.org/drawingml/2006/main">
              <a:ext uri="{FF2B5EF4-FFF2-40B4-BE49-F238E27FC236}">
                <a16:creationId xmlns:a16="http://schemas.microsoft.com/office/drawing/2014/main" id="{D0B9B506-A9DA-4E5C-9BB8-CD212E62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800" y="232664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B56D9"/>
          </a:solidFill>
          <a:ln xmlns:a="http://schemas.openxmlformats.org/drawingml/2006/main" w="0">
            <a:noFill/>
          </a:ln>
        </p:spPr>
      </p:sp>
      <p:sp>
        <p:nvSpPr>
          <p:cNvPr id="129" name="06">
            <a:extLst xmlns:a="http://schemas.openxmlformats.org/drawingml/2006/main">
              <a:ext uri="{FF2B5EF4-FFF2-40B4-BE49-F238E27FC236}">
                <a16:creationId xmlns:a16="http://schemas.microsoft.com/office/drawing/2014/main" id="{8AAE6C83-EC91-4BF4-9F03-30768DA1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100" y="23316438"/>
            <a:ext cx="469987" cy="423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130" name="Evaluation &amp; next steps">
            <a:extLst xmlns:a="http://schemas.openxmlformats.org/drawingml/2006/main">
              <a:ext uri="{FF2B5EF4-FFF2-40B4-BE49-F238E27FC236}">
                <a16:creationId xmlns:a16="http://schemas.microsoft.com/office/drawing/2014/main" id="{ECD86069-D94C-4630-B14D-E5287249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23243286"/>
            <a:ext cx="5359226" cy="570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sz="31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Evaluation &amp; next steps</a:t>
            </a:r>
          </a:p>
        </p:txBody>
      </p:sp>
      <p:sp>
        <p:nvSpPr>
          <p:cNvPr id="131" name="Current scope: a functional learning workflow in the source code. Lear">
            <a:extLst xmlns:a="http://schemas.openxmlformats.org/drawingml/2006/main">
              <a:ext uri="{FF2B5EF4-FFF2-40B4-BE49-F238E27FC236}">
                <a16:creationId xmlns:a16="http://schemas.microsoft.com/office/drawing/2014/main" id="{F23B5CB8-BF08-422D-A7CE-D872CAC9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4062944"/>
            <a:ext cx="8864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8056"/>
              </a:lnSpc>
              <a:buNone/>
              <a:defRPr sz="2400" b="0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b="0"/>
              <a:t/>
            </a:r>
            <a:r>
              <a:rPr sz="24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Current scope:</a:t>
            </a:r>
            <a:r>
              <a:rPr sz="2400" b="0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 a functional learning workflow in the source code. Learning gains have not been measured in this review.</a:t>
            </a:r>
          </a:p>
        </p:txBody>
      </p:sp>
      <p:sp>
        <p:nvSpPr>
          <p:cNvPr id="132" name="Next: evaluate grading agreement, retention and usability; add secure ">
            <a:extLst xmlns:a="http://schemas.openxmlformats.org/drawingml/2006/main">
              <a:ext uri="{FF2B5EF4-FFF2-40B4-BE49-F238E27FC236}">
                <a16:creationId xmlns:a16="http://schemas.microsoft.com/office/drawing/2014/main" id="{20398E65-8C9C-4E3A-A9E2-61F2EE65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5599644"/>
            <a:ext cx="8864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8056"/>
              </a:lnSpc>
              <a:buNone/>
              <a:defRPr sz="2400" b="0">
                <a:solidFill>
                  <a:srgbClr val="17233C"/>
                </a:solidFill>
                <a:latin typeface="DejaVu Sans"/>
                <a:ea typeface="DejaVu Sans"/>
                <a:cs typeface="DejaVu Sans"/>
              </a:defRPr>
            </a:pPr>
            <a:r>
              <a:rPr b="0"/>
              <a:t/>
            </a:r>
            <a:r>
              <a:rPr sz="2400" b="1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Next:</a:t>
            </a:r>
            <a:r>
              <a:rPr sz="2400" b="0">
                <a:solidFill>
                  <a:srgbClr val="17233C"/>
                </a:solidFill>
                <a:latin typeface="DejaVu Sans"/>
                <a:ea typeface="DejaVu Sans"/>
                <a:cs typeface="DejaVu Sans"/>
              </a:rPr>
              <a:t> evaluate grading agreement, retention and usability; add secure authentication and OCR for scanned PDFs.</a:t>
            </a:r>
          </a:p>
        </p:txBody>
      </p:sp>
      <p:sp>
        <p:nvSpPr>
          <p:cNvPr id="133" name="Panel 133">
            <a:extLst xmlns:a="http://schemas.openxmlformats.org/drawingml/2006/main">
              <a:ext uri="{FF2B5EF4-FFF2-40B4-BE49-F238E27FC236}">
                <a16:creationId xmlns:a16="http://schemas.microsoft.com/office/drawing/2014/main" id="{992D2003-2DC6-44B8-8721-49C7BA59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35200"/>
            <a:ext cx="21384006" cy="2640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E"/>
          </a:solidFill>
          <a:ln xmlns:a="http://schemas.openxmlformats.org/drawingml/2006/main" w="0">
            <a:noFill/>
          </a:ln>
        </p:spPr>
      </p:sp>
      <p:sp>
        <p:nvSpPr>
          <p:cNvPr id="134" name="FROM CONTENT TO TARGETED REVISION">
            <a:extLst xmlns:a="http://schemas.openxmlformats.org/drawingml/2006/main">
              <a:ext uri="{FF2B5EF4-FFF2-40B4-BE49-F238E27FC236}">
                <a16:creationId xmlns:a16="http://schemas.microsoft.com/office/drawing/2014/main" id="{4BC4D87D-B234-40C8-B2AA-0C26A008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7983180"/>
            <a:ext cx="8762504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FROM CONTENT TO TARGETED REVISION</a:t>
            </a:r>
          </a:p>
        </p:txBody>
      </p:sp>
      <p:sp>
        <p:nvSpPr>
          <p:cNvPr id="135" name="One workflow connects explanation, assessment,concept-level feedback a">
            <a:extLst xmlns:a="http://schemas.openxmlformats.org/drawingml/2006/main">
              <a:ext uri="{FF2B5EF4-FFF2-40B4-BE49-F238E27FC236}">
                <a16:creationId xmlns:a16="http://schemas.microsoft.com/office/drawing/2014/main" id="{B2389B05-078D-4428-8D1E-C3EBA380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8644850"/>
            <a:ext cx="1003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0">
                <a:solidFill>
                  <a:srgbClr val="BCC8D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16667"/>
              </a:lnSpc>
              <a:buNone/>
              <a:defRPr sz="2500" b="0">
                <a:solidFill>
                  <a:srgbClr val="BCC8DC"/>
                </a:solidFill>
                <a:latin typeface="DejaVu Sans"/>
                <a:ea typeface="DejaVu Sans"/>
                <a:cs typeface="DejaVu Sans"/>
              </a:defRPr>
            </a:pPr>
            <a:r>
              <a:rPr sz="2500" b="0">
                <a:solidFill>
                  <a:srgbClr val="BCC8DC"/>
                </a:solidFill>
                <a:latin typeface="DejaVu Sans"/>
                <a:ea typeface="DejaVu Sans"/>
                <a:cs typeface="DejaVu Sans"/>
              </a:rPr>
              <a:t>One workflow connects explanation, assessment,</a:t>
            </a:r>
          </a:p>
          <a:p xmlns:a="http://schemas.openxmlformats.org/drawingml/2006/main">
            <a:pPr>
              <a:lnSpc>
                <a:spcPct val="116667"/>
              </a:lnSpc>
              <a:buNone/>
              <a:defRPr sz="2500" b="0">
                <a:solidFill>
                  <a:srgbClr val="BCC8DC"/>
                </a:solidFill>
                <a:latin typeface="DejaVu Sans"/>
                <a:ea typeface="DejaVu Sans"/>
                <a:cs typeface="DejaVu Sans"/>
              </a:defRPr>
            </a:pPr>
            <a:r>
              <a:rPr sz="2500" b="0">
                <a:solidFill>
                  <a:srgbClr val="BCC8DC"/>
                </a:solidFill>
                <a:latin typeface="DejaVu Sans"/>
                <a:ea typeface="DejaVu Sans"/>
                <a:cs typeface="DejaVu Sans"/>
              </a:rPr>
              <a:t>concept-level feedback and scheduled recall.</a:t>
            </a:r>
          </a:p>
        </p:txBody>
      </p:sp>
      <p:sp>
        <p:nvSpPr>
          <p:cNvPr id="136" name="Source: IMRAN-8/smartstudy-assistant | commit 09f93df">
            <a:extLst xmlns:a="http://schemas.openxmlformats.org/drawingml/2006/main">
              <a:ext uri="{FF2B5EF4-FFF2-40B4-BE49-F238E27FC236}">
                <a16:creationId xmlns:a16="http://schemas.microsoft.com/office/drawing/2014/main" id="{00418E2B-7B24-47D9-BBAA-104456AE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9797502"/>
            <a:ext cx="6154874" cy="313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0" b="0">
                <a:solidFill>
                  <a:srgbClr val="A4B2C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700" b="0">
                <a:solidFill>
                  <a:srgbClr val="A4B2CC"/>
                </a:solidFill>
                <a:latin typeface="DejaVu Sans"/>
                <a:ea typeface="DejaVu Sans"/>
                <a:cs typeface="DejaVu Sans"/>
              </a:defRPr>
            </a:pPr>
            <a:r>
              <a:rPr sz="1700" b="0">
                <a:solidFill>
                  <a:srgbClr val="A4B2CC"/>
                </a:solidFill>
                <a:latin typeface="DejaVu Sans"/>
                <a:ea typeface="DejaVu Sans"/>
                <a:cs typeface="DejaVu Sans"/>
              </a:rPr>
              <a:t>Source: IMRAN-8/smartstudy-assistant | commit 09f93df</a:t>
            </a:r>
          </a:p>
        </p:txBody>
      </p:sp>
      <p:sp>
        <p:nvSpPr>
          <p:cNvPr id="137" name="Panel 137">
            <a:extLst xmlns:a="http://schemas.openxmlformats.org/drawingml/2006/main">
              <a:ext uri="{FF2B5EF4-FFF2-40B4-BE49-F238E27FC236}">
                <a16:creationId xmlns:a16="http://schemas.microsoft.com/office/drawing/2014/main" id="{BB1B0311-66F6-4E26-A26F-1A031941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8003500"/>
            <a:ext cx="1765300" cy="1765300"/>
          </a:xfrm>
          <a:prstGeom xmlns:a="http://schemas.openxmlformats.org/drawingml/2006/main" prst="roundRect">
            <a:avLst>
              <a:gd name="adj" fmla="val 6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8" name="Panel 138">
            <a:extLst xmlns:a="http://schemas.openxmlformats.org/drawingml/2006/main">
              <a:ext uri="{FF2B5EF4-FFF2-40B4-BE49-F238E27FC236}">
                <a16:creationId xmlns:a16="http://schemas.microsoft.com/office/drawing/2014/main" id="{C470194A-B499-4D79-ACE7-6AAF14A7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3600" y="28003500"/>
            <a:ext cx="1765300" cy="1765300"/>
          </a:xfrm>
          <a:prstGeom xmlns:a="http://schemas.openxmlformats.org/drawingml/2006/main" prst="roundRect">
            <a:avLst>
              <a:gd name="adj" fmla="val 6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9" name="TRY THE APP">
            <a:extLst xmlns:a="http://schemas.openxmlformats.org/drawingml/2006/main">
              <a:ext uri="{FF2B5EF4-FFF2-40B4-BE49-F238E27FC236}">
                <a16:creationId xmlns:a16="http://schemas.microsoft.com/office/drawing/2014/main" id="{C5392330-0577-4FBD-A84C-FE5A68C2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9600" y="29873702"/>
            <a:ext cx="1642690" cy="313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TRY THE APP</a:t>
            </a:r>
          </a:p>
        </p:txBody>
      </p:sp>
      <p:sp>
        <p:nvSpPr>
          <p:cNvPr id="140" name="SOURCE CODE">
            <a:extLst xmlns:a="http://schemas.openxmlformats.org/drawingml/2006/main">
              <a:ext uri="{FF2B5EF4-FFF2-40B4-BE49-F238E27FC236}">
                <a16:creationId xmlns:a16="http://schemas.microsoft.com/office/drawing/2014/main" id="{F71710F6-AA66-4E73-B53D-F12F9945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29873702"/>
            <a:ext cx="1793863" cy="313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1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SOURCE CODE</a:t>
            </a:r>
          </a:p>
        </p:txBody>
      </p:sp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FE54A9B-97FC-4458-8C98-E5DF644C32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b1ad4a32e413f"/>
          <a:stretch xmlns:a="http://schemas.openxmlformats.org/drawingml/2006/main"/>
        </p:blipFill>
        <p:spPr>
          <a:xfrm xmlns:a="http://schemas.openxmlformats.org/drawingml/2006/main">
            <a:off x="9525000" y="5489443"/>
            <a:ext cx="11023600" cy="4337314"/>
          </a:xfrm>
          <a:prstGeom xmlns:a="http://schemas.openxmlformats.org/drawingml/2006/main" prst="rect">
            <a:avLst/>
          </a:prstGeom>
        </p:spPr>
      </p:pic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9A5CE5A-E688-48B2-B065-0BD35F6482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259db367b4548"/>
          <a:stretch xmlns:a="http://schemas.openxmlformats.org/drawingml/2006/main"/>
        </p:blipFill>
        <p:spPr>
          <a:xfrm xmlns:a="http://schemas.openxmlformats.org/drawingml/2006/main">
            <a:off x="14681200" y="28054300"/>
            <a:ext cx="1663700" cy="1663700"/>
          </a:xfrm>
          <a:prstGeom xmlns:a="http://schemas.openxmlformats.org/drawingml/2006/main" prst="rect">
            <a:avLst/>
          </a:prstGeom>
        </p:spPr>
      </p:pic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0062968-D11C-4603-A239-37D76DAFCA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6c6cbabcd4e2d"/>
          <a:stretch xmlns:a="http://schemas.openxmlformats.org/drawingml/2006/main"/>
        </p:blipFill>
        <p:spPr>
          <a:xfrm xmlns:a="http://schemas.openxmlformats.org/drawingml/2006/main">
            <a:off x="18695924" y="28054300"/>
            <a:ext cx="1660653" cy="1663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43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2026-10-11T06:08:44.6210000Z</dcterms:created>
  <dcterms:modified xsi:type="dcterms:W3CDTF">2026-10-11T06:08:44.6210000Z</dcterms:modified>
</coreProperties>
</file>